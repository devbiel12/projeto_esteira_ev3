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Play" panose="020B0604020202020204" charset="0"/>
      <p:regular r:id="rId20"/>
      <p:bold r:id="rId21"/>
    </p:embeddedFon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kl7xTG2cu4dRj1YNRHmKY9ULY5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233A"/>
    <a:srgbClr val="09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3.png"/><Relationship Id="rId10" Type="http://schemas.microsoft.com/office/2007/relationships/hdphoto" Target="../media/hdphoto5.wdp"/><Relationship Id="rId4" Type="http://schemas.microsoft.com/office/2007/relationships/hdphoto" Target="../media/hdphoto2.wdp"/><Relationship Id="rId9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youtube.com/shorts/SB-RZ3UjowU?si=vWSZOyQIuXkM-Kpw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biel12/projeto_esteira_ev3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eg"/><Relationship Id="rId4" Type="http://schemas.openxmlformats.org/officeDocument/2006/relationships/hyperlink" Target="https://youtube.com/shorts/SB-RZ3UjowU?si=vWSZOyQIuXkM-Kp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endParaRPr sz="3700" b="1">
              <a:solidFill>
                <a:srgbClr val="F8FAFC"/>
              </a:solidFill>
              <a:latin typeface="Play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685800" y="502920"/>
            <a:ext cx="1143000" cy="347472"/>
          </a:xfrm>
          <a:prstGeom prst="roundRect">
            <a:avLst>
              <a:gd name="adj" fmla="val 16667"/>
            </a:avLst>
          </a:prstGeom>
          <a:solidFill>
            <a:srgbClr val="2B70C4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685800" y="530352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ROBÓTICA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1938528" y="502920"/>
            <a:ext cx="1325880" cy="347472"/>
          </a:xfrm>
          <a:prstGeom prst="roundRect">
            <a:avLst>
              <a:gd name="adj" fmla="val 16667"/>
            </a:avLst>
          </a:prstGeom>
          <a:solidFill>
            <a:srgbClr val="27A664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1938528" y="53035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3383280" y="502920"/>
            <a:ext cx="1554480" cy="347472"/>
          </a:xfrm>
          <a:prstGeom prst="roundRect">
            <a:avLst>
              <a:gd name="adj" fmla="val 16667"/>
            </a:avLst>
          </a:prstGeom>
          <a:solidFill>
            <a:srgbClr val="DA2D2D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3383280" y="53035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IA • EVOLUÇÃO</a:t>
            </a:r>
            <a:endParaRPr/>
          </a:p>
        </p:txBody>
      </p:sp>
      <p:sp>
        <p:nvSpPr>
          <p:cNvPr id="119" name="Google Shape;119;p1"/>
          <p:cNvSpPr txBox="1"/>
          <p:nvPr/>
        </p:nvSpPr>
        <p:spPr>
          <a:xfrm>
            <a:off x="685800" y="1234440"/>
            <a:ext cx="557784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ROBÔ</a:t>
            </a:r>
            <a:b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SORTEADOR</a:t>
            </a:r>
            <a:b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7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 CORES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713232" y="3401568"/>
            <a:ext cx="48463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LEGO MINDSTORMS EV3</a:t>
            </a:r>
            <a:endParaRPr/>
          </a:p>
        </p:txBody>
      </p:sp>
      <p:sp>
        <p:nvSpPr>
          <p:cNvPr id="121" name="Google Shape;121;p1"/>
          <p:cNvSpPr txBox="1"/>
          <p:nvPr/>
        </p:nvSpPr>
        <p:spPr>
          <a:xfrm>
            <a:off x="713232" y="39319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Da leitura do sensor à decisão e ao movimento físico.</a:t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6528810" y="1123795"/>
            <a:ext cx="4800600" cy="43434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13232" y="614476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0" u="none" strike="noStrike" cap="none" dirty="0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Professor Gustavo Molina Figueiredo</a:t>
            </a:r>
            <a:endParaRPr dirty="0"/>
          </a:p>
        </p:txBody>
      </p:sp>
      <p:sp>
        <p:nvSpPr>
          <p:cNvPr id="143" name="Google Shape;143;p1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144" name="Google Shape;144;p1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D66DB4-6A53-38E5-29F6-30D71AB650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804" b="96471" l="4110" r="94178">
                        <a14:foregroundMark x1="17466" y1="52941" x2="17466" y2="52941"/>
                        <a14:foregroundMark x1="25000" y1="68627" x2="25000" y2="68627"/>
                        <a14:foregroundMark x1="26370" y1="69804" x2="26370" y2="69804"/>
                        <a14:foregroundMark x1="27055" y1="95294" x2="27055" y2="95294"/>
                        <a14:foregroundMark x1="20890" y1="90980" x2="20890" y2="90980"/>
                        <a14:foregroundMark x1="13014" y1="87059" x2="13014" y2="87059"/>
                        <a14:foregroundMark x1="6507" y1="82745" x2="6507" y2="82745"/>
                        <a14:foregroundMark x1="4110" y1="83529" x2="4110" y2="83529"/>
                        <a14:foregroundMark x1="15753" y1="80392" x2="15753" y2="80392"/>
                        <a14:foregroundMark x1="22945" y1="84314" x2="22945" y2="84314"/>
                        <a14:foregroundMark x1="36986" y1="93725" x2="36986" y2="93725"/>
                        <a14:foregroundMark x1="93151" y1="73333" x2="93151" y2="73333"/>
                        <a14:foregroundMark x1="91438" y1="72549" x2="91438" y2="72549"/>
                        <a14:foregroundMark x1="31849" y1="86667" x2="31849" y2="86667"/>
                        <a14:foregroundMark x1="73973" y1="90196" x2="73973" y2="90196"/>
                        <a14:foregroundMark x1="73973" y1="92941" x2="73973" y2="92941"/>
                        <a14:foregroundMark x1="76370" y1="92157" x2="76370" y2="92157"/>
                        <a14:foregroundMark x1="85959" y1="87843" x2="85959" y2="87843"/>
                        <a14:foregroundMark x1="86644" y1="82353" x2="86644" y2="82353"/>
                        <a14:foregroundMark x1="87329" y1="89020" x2="87329" y2="89020"/>
                        <a14:foregroundMark x1="86644" y1="92157" x2="86644" y2="92157"/>
                        <a14:foregroundMark x1="87671" y1="81961" x2="87671" y2="81961"/>
                        <a14:foregroundMark x1="87671" y1="79608" x2="87671" y2="79608"/>
                        <a14:foregroundMark x1="73288" y1="95294" x2="73288" y2="95294"/>
                        <a14:foregroundMark x1="73973" y1="96471" x2="73973" y2="96471"/>
                        <a14:foregroundMark x1="75685" y1="83529" x2="75685" y2="83529"/>
                        <a14:foregroundMark x1="75342" y1="90588" x2="75342" y2="90588"/>
                        <a14:foregroundMark x1="94178" y1="73725" x2="94178" y2="73725"/>
                        <a14:foregroundMark x1="33219" y1="87843" x2="33219" y2="87843"/>
                        <a14:backgroundMark x1="22945" y1="87059" x2="22945" y2="87059"/>
                        <a14:backgroundMark x1="41438" y1="87451" x2="41438" y2="87451"/>
                        <a14:backgroundMark x1="62671" y1="87451" x2="62671" y2="87451"/>
                        <a14:backgroundMark x1="52055" y1="87843" x2="52055" y2="87843"/>
                        <a14:backgroundMark x1="81849" y1="87451" x2="81849" y2="87451"/>
                        <a14:backgroundMark x1="77055" y1="93333" x2="77055" y2="93333"/>
                        <a14:backgroundMark x1="76370" y1="92549" x2="76370" y2="9254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649619" y="837977"/>
            <a:ext cx="4848052" cy="42985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GRUPO</a:t>
            </a:r>
            <a:endParaRPr/>
          </a:p>
        </p:txBody>
      </p:sp>
      <p:sp>
        <p:nvSpPr>
          <p:cNvPr id="521" name="Google Shape;521;p8"/>
          <p:cNvSpPr txBox="1"/>
          <p:nvPr/>
        </p:nvSpPr>
        <p:spPr>
          <a:xfrm>
            <a:off x="640080" y="713232"/>
            <a:ext cx="106070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Nomes</a:t>
            </a:r>
            <a:r>
              <a:rPr lang="en-US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e RA de </a:t>
            </a: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cada</a:t>
            </a:r>
            <a:r>
              <a:rPr lang="en-US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integrante</a:t>
            </a:r>
            <a:r>
              <a:rPr lang="en-US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 do </a:t>
            </a:r>
            <a:r>
              <a:rPr lang="en-US" sz="2800" b="1" i="0" u="none" strike="noStrike" cap="none" dirty="0" err="1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grupo</a:t>
            </a:r>
            <a:endParaRPr dirty="0"/>
          </a:p>
        </p:txBody>
      </p:sp>
      <p:sp>
        <p:nvSpPr>
          <p:cNvPr id="522" name="Google Shape;522;p8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 txBox="1"/>
          <p:nvPr/>
        </p:nvSpPr>
        <p:spPr>
          <a:xfrm>
            <a:off x="11064240" y="438912"/>
            <a:ext cx="50292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 dirty="0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dirty="0"/>
          </a:p>
        </p:txBody>
      </p:sp>
      <p:sp>
        <p:nvSpPr>
          <p:cNvPr id="524" name="Google Shape;524;p8"/>
          <p:cNvSpPr/>
          <p:nvPr/>
        </p:nvSpPr>
        <p:spPr>
          <a:xfrm>
            <a:off x="777240" y="169164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 txBox="1"/>
          <p:nvPr/>
        </p:nvSpPr>
        <p:spPr>
          <a:xfrm>
            <a:off x="109728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Richard Bernardino</a:t>
            </a:r>
            <a:endParaRPr/>
          </a:p>
        </p:txBody>
      </p:sp>
      <p:sp>
        <p:nvSpPr>
          <p:cNvPr id="526" name="Google Shape;526;p8"/>
          <p:cNvSpPr txBox="1"/>
          <p:nvPr/>
        </p:nvSpPr>
        <p:spPr>
          <a:xfrm>
            <a:off x="3063240" y="1856232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RA: 2401808	</a:t>
            </a:r>
            <a:endParaRPr dirty="0"/>
          </a:p>
        </p:txBody>
      </p:sp>
      <p:sp>
        <p:nvSpPr>
          <p:cNvPr id="527" name="Google Shape;527;p8"/>
          <p:cNvSpPr/>
          <p:nvPr/>
        </p:nvSpPr>
        <p:spPr>
          <a:xfrm>
            <a:off x="777240" y="269748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 txBox="1"/>
          <p:nvPr/>
        </p:nvSpPr>
        <p:spPr>
          <a:xfrm>
            <a:off x="1097280" y="2880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Gabriel Araújo</a:t>
            </a:r>
            <a:endParaRPr/>
          </a:p>
        </p:txBody>
      </p:sp>
      <p:sp>
        <p:nvSpPr>
          <p:cNvPr id="529" name="Google Shape;529;p8"/>
          <p:cNvSpPr txBox="1"/>
          <p:nvPr/>
        </p:nvSpPr>
        <p:spPr>
          <a:xfrm>
            <a:off x="3063240" y="2862072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1700" dirty="0">
                <a:solidFill>
                  <a:srgbClr val="F8FAFC"/>
                </a:solidFill>
              </a:rPr>
              <a:t>A</a:t>
            </a: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: 2401592</a:t>
            </a:r>
            <a:endParaRPr dirty="0"/>
          </a:p>
        </p:txBody>
      </p:sp>
      <p:sp>
        <p:nvSpPr>
          <p:cNvPr id="530" name="Google Shape;530;p8"/>
          <p:cNvSpPr/>
          <p:nvPr/>
        </p:nvSpPr>
        <p:spPr>
          <a:xfrm>
            <a:off x="777240" y="370332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 txBox="1"/>
          <p:nvPr/>
        </p:nvSpPr>
        <p:spPr>
          <a:xfrm>
            <a:off x="109728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Guilherme Amorim</a:t>
            </a:r>
            <a:endParaRPr/>
          </a:p>
        </p:txBody>
      </p:sp>
      <p:sp>
        <p:nvSpPr>
          <p:cNvPr id="532" name="Google Shape;532;p8"/>
          <p:cNvSpPr txBox="1"/>
          <p:nvPr/>
        </p:nvSpPr>
        <p:spPr>
          <a:xfrm>
            <a:off x="3063240" y="3867409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RA: 2401694</a:t>
            </a:r>
            <a:endParaRPr dirty="0"/>
          </a:p>
        </p:txBody>
      </p:sp>
      <p:sp>
        <p:nvSpPr>
          <p:cNvPr id="533" name="Google Shape;533;p8"/>
          <p:cNvSpPr/>
          <p:nvPr/>
        </p:nvSpPr>
        <p:spPr>
          <a:xfrm>
            <a:off x="777240" y="470916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1097280" y="4892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Matheus Deziderio</a:t>
            </a:r>
            <a:endParaRPr/>
          </a:p>
        </p:txBody>
      </p:sp>
      <p:sp>
        <p:nvSpPr>
          <p:cNvPr id="535" name="Google Shape;535;p8"/>
          <p:cNvSpPr txBox="1"/>
          <p:nvPr/>
        </p:nvSpPr>
        <p:spPr>
          <a:xfrm>
            <a:off x="3063240" y="4873752"/>
            <a:ext cx="7498079" cy="35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RA: 2401616</a:t>
            </a:r>
            <a:endParaRPr dirty="0"/>
          </a:p>
        </p:txBody>
      </p:sp>
      <p:sp>
        <p:nvSpPr>
          <p:cNvPr id="536" name="Google Shape;536;p8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537" name="Google Shape;537;p8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VISÃO DO PROJETO</a:t>
            </a:r>
            <a:endParaRPr/>
          </a:p>
        </p:txBody>
      </p:sp>
      <p:sp>
        <p:nvSpPr>
          <p:cNvPr id="179" name="Google Shape;179;p2"/>
          <p:cNvSpPr txBox="1"/>
          <p:nvPr/>
        </p:nvSpPr>
        <p:spPr>
          <a:xfrm>
            <a:off x="640080" y="713232"/>
            <a:ext cx="1060704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i="0" u="none" strike="noStrike" cap="none" dirty="0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que o protótipo propõe e contexto</a:t>
            </a:r>
            <a:endParaRPr lang="pt-BR" sz="2800" dirty="0"/>
          </a:p>
        </p:txBody>
      </p:sp>
      <p:sp>
        <p:nvSpPr>
          <p:cNvPr id="180" name="Google Shape;180;p2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2" name="Google Shape;182;p2"/>
          <p:cNvSpPr txBox="1"/>
          <p:nvPr/>
        </p:nvSpPr>
        <p:spPr>
          <a:xfrm>
            <a:off x="685800" y="1664208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protótipo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simula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etapa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industrial: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identificar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característica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direcioná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-la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destino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correto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183" name="Google Shape;183;p2"/>
          <p:cNvSpPr/>
          <p:nvPr/>
        </p:nvSpPr>
        <p:spPr>
          <a:xfrm>
            <a:off x="749808" y="2788920"/>
            <a:ext cx="640080" cy="640080"/>
          </a:xfrm>
          <a:prstGeom prst="ellipse">
            <a:avLst/>
          </a:prstGeom>
          <a:solidFill>
            <a:srgbClr val="2B70C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"/>
          <p:cNvSpPr txBox="1"/>
          <p:nvPr/>
        </p:nvSpPr>
        <p:spPr>
          <a:xfrm>
            <a:off x="749808" y="28986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85" name="Google Shape;185;p2"/>
          <p:cNvSpPr txBox="1"/>
          <p:nvPr/>
        </p:nvSpPr>
        <p:spPr>
          <a:xfrm>
            <a:off x="1572768" y="280720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/>
          </a:p>
        </p:txBody>
      </p:sp>
      <p:sp>
        <p:nvSpPr>
          <p:cNvPr id="186" name="Google Shape;186;p2"/>
          <p:cNvSpPr txBox="1"/>
          <p:nvPr/>
        </p:nvSpPr>
        <p:spPr>
          <a:xfrm>
            <a:off x="1572768" y="3081527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 colorida apresentada ao sensor</a:t>
            </a:r>
            <a:endParaRPr/>
          </a:p>
        </p:txBody>
      </p:sp>
      <p:sp>
        <p:nvSpPr>
          <p:cNvPr id="187" name="Google Shape;187;p2"/>
          <p:cNvSpPr/>
          <p:nvPr/>
        </p:nvSpPr>
        <p:spPr>
          <a:xfrm>
            <a:off x="749808" y="3749039"/>
            <a:ext cx="640080" cy="640080"/>
          </a:xfrm>
          <a:prstGeom prst="ellipse">
            <a:avLst/>
          </a:prstGeom>
          <a:solidFill>
            <a:srgbClr val="2AC3D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"/>
          <p:cNvSpPr txBox="1"/>
          <p:nvPr/>
        </p:nvSpPr>
        <p:spPr>
          <a:xfrm>
            <a:off x="749808" y="385876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9" name="Google Shape;189;p2"/>
          <p:cNvSpPr txBox="1"/>
          <p:nvPr/>
        </p:nvSpPr>
        <p:spPr>
          <a:xfrm>
            <a:off x="1572768" y="3767327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/>
          </a:p>
        </p:txBody>
      </p:sp>
      <p:sp>
        <p:nvSpPr>
          <p:cNvPr id="190" name="Google Shape;190;p2"/>
          <p:cNvSpPr txBox="1"/>
          <p:nvPr/>
        </p:nvSpPr>
        <p:spPr>
          <a:xfrm>
            <a:off x="1572768" y="404164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Leitura e interpretação da cor</a:t>
            </a:r>
            <a:endParaRPr/>
          </a:p>
        </p:txBody>
      </p:sp>
      <p:sp>
        <p:nvSpPr>
          <p:cNvPr id="191" name="Google Shape;191;p2"/>
          <p:cNvSpPr/>
          <p:nvPr/>
        </p:nvSpPr>
        <p:spPr>
          <a:xfrm>
            <a:off x="749808" y="4709160"/>
            <a:ext cx="640080" cy="640080"/>
          </a:xfrm>
          <a:prstGeom prst="ellipse">
            <a:avLst/>
          </a:prstGeom>
          <a:solidFill>
            <a:srgbClr val="27A66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"/>
          <p:cNvSpPr txBox="1"/>
          <p:nvPr/>
        </p:nvSpPr>
        <p:spPr>
          <a:xfrm>
            <a:off x="749808" y="481888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1572768" y="4727448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endParaRPr/>
          </a:p>
        </p:txBody>
      </p:sp>
      <p:sp>
        <p:nvSpPr>
          <p:cNvPr id="194" name="Google Shape;194;p2"/>
          <p:cNvSpPr txBox="1"/>
          <p:nvPr/>
        </p:nvSpPr>
        <p:spPr>
          <a:xfrm>
            <a:off x="1572768" y="5001768"/>
            <a:ext cx="438912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Esteira posiciona e o alimentador ejeta</a:t>
            </a:r>
            <a:endParaRPr/>
          </a:p>
        </p:txBody>
      </p:sp>
      <p:sp>
        <p:nvSpPr>
          <p:cNvPr id="195" name="Google Shape;195;p2"/>
          <p:cNvSpPr/>
          <p:nvPr/>
        </p:nvSpPr>
        <p:spPr>
          <a:xfrm>
            <a:off x="6629400" y="1664208"/>
            <a:ext cx="4754880" cy="42519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ECF3F8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7059168" y="2084831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OBJETIVO PRINCIPAL</a:t>
            </a:r>
            <a:endParaRPr>
              <a:solidFill>
                <a:srgbClr val="0070C0"/>
              </a:solidFill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7059168" y="2487168"/>
            <a:ext cx="36576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Identificar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 cores e </a:t>
            </a: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distribuir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 as </a:t>
            </a: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peças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lang="en-US" sz="2600" b="1" i="0" u="none" strike="noStrike" cap="none" dirty="0" err="1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corretamente</a:t>
            </a:r>
            <a:r>
              <a:rPr lang="en-US" sz="2600" b="1" i="0" u="none" strike="noStrike" cap="none" dirty="0">
                <a:solidFill>
                  <a:schemeClr val="bg1"/>
                </a:solidFill>
                <a:latin typeface="Play"/>
                <a:ea typeface="Play"/>
                <a:cs typeface="Play"/>
                <a:sym typeface="Play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8" name="Google Shape;198;p2"/>
          <p:cNvSpPr txBox="1"/>
          <p:nvPr/>
        </p:nvSpPr>
        <p:spPr>
          <a:xfrm>
            <a:off x="7059168" y="37033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Valor demonstrado</a:t>
            </a:r>
            <a:endParaRPr/>
          </a:p>
        </p:txBody>
      </p:sp>
      <p:sp>
        <p:nvSpPr>
          <p:cNvPr id="199" name="Google Shape;199;p2"/>
          <p:cNvSpPr txBox="1"/>
          <p:nvPr/>
        </p:nvSpPr>
        <p:spPr>
          <a:xfrm>
            <a:off x="7059168" y="4050791"/>
            <a:ext cx="3611880" cy="113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validações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separação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reduzindo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necessidade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manual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durante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1700" b="0" i="0" u="none" strike="noStrike" cap="none" dirty="0" err="1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processo</a:t>
            </a:r>
            <a:r>
              <a:rPr lang="en-US" sz="17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00" name="Google Shape;200;p2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201" name="Google Shape;201;p2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/>
          </a:p>
        </p:txBody>
      </p:sp>
      <p:sp>
        <p:nvSpPr>
          <p:cNvPr id="236" name="Google Shape;236;p3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Hardware + software trabalhando juntos</a:t>
            </a:r>
            <a:endParaRPr/>
          </a:p>
        </p:txBody>
      </p:sp>
      <p:sp>
        <p:nvSpPr>
          <p:cNvPr id="237" name="Google Shape;237;p3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39" name="Google Shape;239;p3"/>
          <p:cNvSpPr/>
          <p:nvPr/>
        </p:nvSpPr>
        <p:spPr>
          <a:xfrm>
            <a:off x="685800" y="1737360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"/>
          <p:cNvSpPr txBox="1"/>
          <p:nvPr/>
        </p:nvSpPr>
        <p:spPr>
          <a:xfrm>
            <a:off x="960120" y="21671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/>
          </a:p>
        </p:txBody>
      </p:sp>
      <p:sp>
        <p:nvSpPr>
          <p:cNvPr id="242" name="Google Shape;242;p3"/>
          <p:cNvSpPr txBox="1"/>
          <p:nvPr/>
        </p:nvSpPr>
        <p:spPr>
          <a:xfrm>
            <a:off x="1783080" y="19659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 DE COR</a:t>
            </a:r>
            <a:endParaRPr/>
          </a:p>
        </p:txBody>
      </p:sp>
      <p:sp>
        <p:nvSpPr>
          <p:cNvPr id="243" name="Google Shape;243;p3"/>
          <p:cNvSpPr txBox="1"/>
          <p:nvPr/>
        </p:nvSpPr>
        <p:spPr>
          <a:xfrm>
            <a:off x="1783080" y="23500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Lê vermelho, verde, azul e amarelo</a:t>
            </a:r>
            <a:endParaRPr/>
          </a:p>
        </p:txBody>
      </p:sp>
      <p:sp>
        <p:nvSpPr>
          <p:cNvPr id="244" name="Google Shape;244;p3"/>
          <p:cNvSpPr/>
          <p:nvPr/>
        </p:nvSpPr>
        <p:spPr>
          <a:xfrm>
            <a:off x="6309360" y="1737360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"/>
          <p:cNvSpPr txBox="1"/>
          <p:nvPr/>
        </p:nvSpPr>
        <p:spPr>
          <a:xfrm>
            <a:off x="6583680" y="216712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S1</a:t>
            </a:r>
            <a:endParaRPr/>
          </a:p>
        </p:txBody>
      </p:sp>
      <p:sp>
        <p:nvSpPr>
          <p:cNvPr id="247" name="Google Shape;247;p3"/>
          <p:cNvSpPr txBox="1"/>
          <p:nvPr/>
        </p:nvSpPr>
        <p:spPr>
          <a:xfrm>
            <a:off x="7406640" y="196596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 DE TOQUE</a:t>
            </a:r>
            <a:endParaRPr/>
          </a:p>
        </p:txBody>
      </p:sp>
      <p:sp>
        <p:nvSpPr>
          <p:cNvPr id="248" name="Google Shape;248;p3"/>
          <p:cNvSpPr txBox="1"/>
          <p:nvPr/>
        </p:nvSpPr>
        <p:spPr>
          <a:xfrm>
            <a:off x="7406640" y="235000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Referência para zerar a esteira</a:t>
            </a:r>
            <a:endParaRPr/>
          </a:p>
        </p:txBody>
      </p:sp>
      <p:sp>
        <p:nvSpPr>
          <p:cNvPr id="249" name="Google Shape;249;p3"/>
          <p:cNvSpPr/>
          <p:nvPr/>
        </p:nvSpPr>
        <p:spPr>
          <a:xfrm>
            <a:off x="685800" y="3611879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"/>
          <p:cNvSpPr txBox="1"/>
          <p:nvPr/>
        </p:nvSpPr>
        <p:spPr>
          <a:xfrm>
            <a:off x="960120" y="40416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/>
          </a:p>
        </p:txBody>
      </p:sp>
      <p:sp>
        <p:nvSpPr>
          <p:cNvPr id="252" name="Google Shape;252;p3"/>
          <p:cNvSpPr txBox="1"/>
          <p:nvPr/>
        </p:nvSpPr>
        <p:spPr>
          <a:xfrm>
            <a:off x="1783080" y="3840479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MOTOR DA ESTEIRA</a:t>
            </a:r>
            <a:endParaRPr/>
          </a:p>
        </p:txBody>
      </p:sp>
      <p:sp>
        <p:nvSpPr>
          <p:cNvPr id="253" name="Google Shape;253;p3"/>
          <p:cNvSpPr txBox="1"/>
          <p:nvPr/>
        </p:nvSpPr>
        <p:spPr>
          <a:xfrm>
            <a:off x="1783080" y="422452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Move para a posição de cada cor</a:t>
            </a:r>
            <a:endParaRPr/>
          </a:p>
        </p:txBody>
      </p:sp>
      <p:sp>
        <p:nvSpPr>
          <p:cNvPr id="254" name="Google Shape;254;p3"/>
          <p:cNvSpPr/>
          <p:nvPr/>
        </p:nvSpPr>
        <p:spPr>
          <a:xfrm>
            <a:off x="6309360" y="3611879"/>
            <a:ext cx="5074920" cy="14173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"/>
          <p:cNvSpPr txBox="1"/>
          <p:nvPr/>
        </p:nvSpPr>
        <p:spPr>
          <a:xfrm>
            <a:off x="6583680" y="4041648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57" name="Google Shape;257;p3"/>
          <p:cNvSpPr txBox="1"/>
          <p:nvPr/>
        </p:nvSpPr>
        <p:spPr>
          <a:xfrm>
            <a:off x="7406640" y="3840479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MOTOR ALIMENTADOR</a:t>
            </a:r>
            <a:endParaRPr/>
          </a:p>
        </p:txBody>
      </p:sp>
      <p:sp>
        <p:nvSpPr>
          <p:cNvPr id="258" name="Google Shape;258;p3"/>
          <p:cNvSpPr txBox="1"/>
          <p:nvPr/>
        </p:nvSpPr>
        <p:spPr>
          <a:xfrm>
            <a:off x="7406640" y="4224528"/>
            <a:ext cx="35661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Ejeta a peça e retorna à posição inicial</a:t>
            </a:r>
            <a:endParaRPr/>
          </a:p>
        </p:txBody>
      </p:sp>
      <p:sp>
        <p:nvSpPr>
          <p:cNvPr id="259" name="Google Shape;259;p3"/>
          <p:cNvSpPr txBox="1"/>
          <p:nvPr/>
        </p:nvSpPr>
        <p:spPr>
          <a:xfrm>
            <a:off x="685800" y="562356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PYTHON • LEGO EV3 MICROPYTHON • PYBRICKS</a:t>
            </a:r>
            <a:endParaRPr/>
          </a:p>
        </p:txBody>
      </p:sp>
      <p:sp>
        <p:nvSpPr>
          <p:cNvPr id="260" name="Google Shape;260;p3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261" name="Google Shape;261;p3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4A6A3BE-F771-05CF-7C11-0BD6768F14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9322" y1="30909" x2="59322" y2="309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2806" y="1954083"/>
            <a:ext cx="1009338" cy="94090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8B30183-1F42-8B24-48C6-91D8F34D95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62264" y1="29114" x2="62264" y2="291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1390" y="1947079"/>
            <a:ext cx="1009791" cy="75258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F8C59C6E-6558-1001-86AF-0ACCAEB8A9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9649" b="92105" l="9459" r="89865">
                        <a14:foregroundMark x1="68243" y1="28070" x2="68243" y2="28070"/>
                        <a14:foregroundMark x1="33108" y1="92105" x2="33108" y2="9210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572" y="3718256"/>
            <a:ext cx="1409897" cy="1086002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506F97A-D78B-896D-C3D3-89293545E1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8989" b="89888" l="8989" r="92135">
                        <a14:foregroundMark x1="25843" y1="22472" x2="25843" y2="22472"/>
                        <a14:foregroundMark x1="34831" y1="20225" x2="34831" y2="20225"/>
                        <a14:foregroundMark x1="41573" y1="16854" x2="41573" y2="16854"/>
                        <a14:foregroundMark x1="50562" y1="19101" x2="50562" y2="19101"/>
                        <a14:foregroundMark x1="61798" y1="24719" x2="61798" y2="24719"/>
                        <a14:foregroundMark x1="37079" y1="11236" x2="37079" y2="11236"/>
                        <a14:foregroundMark x1="48315" y1="13483" x2="48315" y2="13483"/>
                        <a14:foregroundMark x1="44944" y1="8989" x2="44944" y2="8989"/>
                        <a14:foregroundMark x1="89888" y1="58427" x2="89888" y2="58427"/>
                        <a14:foregroundMark x1="75281" y1="75281" x2="75281" y2="75281"/>
                        <a14:foregroundMark x1="86517" y1="75281" x2="86517" y2="75281"/>
                        <a14:foregroundMark x1="92135" y1="64045" x2="92135" y2="64045"/>
                        <a14:foregroundMark x1="92135" y1="61798" x2="92135" y2="61798"/>
                        <a14:foregroundMark x1="88764" y1="50562" x2="88764" y2="50562"/>
                        <a14:foregroundMark x1="88764" y1="50562" x2="88764" y2="5056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21906" y="3868632"/>
            <a:ext cx="847843" cy="847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4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4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4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4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4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4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4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LÓGICA INTELIGENTE</a:t>
            </a:r>
            <a:endParaRPr/>
          </a:p>
        </p:txBody>
      </p:sp>
      <p:sp>
        <p:nvSpPr>
          <p:cNvPr id="296" name="Google Shape;296;p4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Como o código aumenta a confiabilidade</a:t>
            </a:r>
            <a:endParaRPr/>
          </a:p>
        </p:txBody>
      </p:sp>
      <p:sp>
        <p:nvSpPr>
          <p:cNvPr id="297" name="Google Shape;297;p4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99" name="Google Shape;299;p4"/>
          <p:cNvSpPr/>
          <p:nvPr/>
        </p:nvSpPr>
        <p:spPr>
          <a:xfrm>
            <a:off x="685800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"/>
          <p:cNvSpPr txBox="1"/>
          <p:nvPr/>
        </p:nvSpPr>
        <p:spPr>
          <a:xfrm>
            <a:off x="868680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AC3DE"/>
                </a:solidFill>
                <a:latin typeface="Play"/>
                <a:ea typeface="Play"/>
                <a:cs typeface="Play"/>
                <a:sym typeface="Play"/>
              </a:rPr>
              <a:t>3×</a:t>
            </a:r>
            <a:endParaRPr/>
          </a:p>
        </p:txBody>
      </p:sp>
      <p:sp>
        <p:nvSpPr>
          <p:cNvPr id="301" name="Google Shape;301;p4"/>
          <p:cNvSpPr txBox="1"/>
          <p:nvPr/>
        </p:nvSpPr>
        <p:spPr>
          <a:xfrm>
            <a:off x="914400" y="2907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Leituras consecutivas</a:t>
            </a:r>
            <a:endParaRPr/>
          </a:p>
        </p:txBody>
      </p:sp>
      <p:sp>
        <p:nvSpPr>
          <p:cNvPr id="302" name="Google Shape;302;p4"/>
          <p:cNvSpPr txBox="1"/>
          <p:nvPr/>
        </p:nvSpPr>
        <p:spPr>
          <a:xfrm>
            <a:off x="941832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A cor é confirmada usando múltiplas amostras.</a:t>
            </a:r>
            <a:endParaRPr/>
          </a:p>
        </p:txBody>
      </p:sp>
      <p:sp>
        <p:nvSpPr>
          <p:cNvPr id="303" name="Google Shape;303;p4"/>
          <p:cNvSpPr/>
          <p:nvPr/>
        </p:nvSpPr>
        <p:spPr>
          <a:xfrm>
            <a:off x="3502152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 txBox="1"/>
          <p:nvPr/>
        </p:nvSpPr>
        <p:spPr>
          <a:xfrm>
            <a:off x="3685032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2AC3DE"/>
                </a:solidFill>
                <a:latin typeface="Play"/>
                <a:ea typeface="Play"/>
                <a:cs typeface="Play"/>
                <a:sym typeface="Play"/>
              </a:rPr>
              <a:t>RGB</a:t>
            </a: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3730752" y="2907792"/>
            <a:ext cx="2011680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Azul × </a:t>
            </a:r>
            <a:r>
              <a:rPr lang="en-US" sz="1500" b="1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r>
              <a:rPr lang="en-US" sz="1500" b="1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x Vermelho</a:t>
            </a:r>
            <a:endParaRPr dirty="0"/>
          </a:p>
        </p:txBody>
      </p:sp>
      <p:sp>
        <p:nvSpPr>
          <p:cNvPr id="306" name="Google Shape;306;p4"/>
          <p:cNvSpPr txBox="1"/>
          <p:nvPr/>
        </p:nvSpPr>
        <p:spPr>
          <a:xfrm>
            <a:off x="3758184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Compara os canais para reduzir ambiguidades.</a:t>
            </a:r>
            <a:endParaRPr/>
          </a:p>
        </p:txBody>
      </p:sp>
      <p:sp>
        <p:nvSpPr>
          <p:cNvPr id="307" name="Google Shape;307;p4"/>
          <p:cNvSpPr/>
          <p:nvPr/>
        </p:nvSpPr>
        <p:spPr>
          <a:xfrm>
            <a:off x="6318504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"/>
          <p:cNvSpPr txBox="1"/>
          <p:nvPr/>
        </p:nvSpPr>
        <p:spPr>
          <a:xfrm>
            <a:off x="6501384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8</a:t>
            </a:r>
            <a:endParaRPr/>
          </a:p>
        </p:txBody>
      </p:sp>
      <p:sp>
        <p:nvSpPr>
          <p:cNvPr id="309" name="Google Shape;309;p4"/>
          <p:cNvSpPr txBox="1"/>
          <p:nvPr/>
        </p:nvSpPr>
        <p:spPr>
          <a:xfrm>
            <a:off x="6547104" y="2907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Peças por ciclo</a:t>
            </a:r>
            <a:endParaRPr/>
          </a:p>
        </p:txBody>
      </p:sp>
      <p:sp>
        <p:nvSpPr>
          <p:cNvPr id="310" name="Google Shape;310;p4"/>
          <p:cNvSpPr txBox="1"/>
          <p:nvPr/>
        </p:nvSpPr>
        <p:spPr>
          <a:xfrm>
            <a:off x="6574536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A sequência é armazenada antes da separação.</a:t>
            </a:r>
            <a:endParaRPr/>
          </a:p>
        </p:txBody>
      </p:sp>
      <p:sp>
        <p:nvSpPr>
          <p:cNvPr id="311" name="Google Shape;311;p4"/>
          <p:cNvSpPr/>
          <p:nvPr/>
        </p:nvSpPr>
        <p:spPr>
          <a:xfrm>
            <a:off x="9134856" y="1783080"/>
            <a:ext cx="2468880" cy="315468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"/>
          <p:cNvSpPr txBox="1"/>
          <p:nvPr/>
        </p:nvSpPr>
        <p:spPr>
          <a:xfrm>
            <a:off x="9317736" y="2084831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STOP</a:t>
            </a:r>
            <a:endParaRPr/>
          </a:p>
        </p:txBody>
      </p:sp>
      <p:sp>
        <p:nvSpPr>
          <p:cNvPr id="313" name="Google Shape;313;p4"/>
          <p:cNvSpPr txBox="1"/>
          <p:nvPr/>
        </p:nvSpPr>
        <p:spPr>
          <a:xfrm>
            <a:off x="9363456" y="2907792"/>
            <a:ext cx="20116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Anti-travamento</a:t>
            </a:r>
            <a:endParaRPr/>
          </a:p>
        </p:txBody>
      </p:sp>
      <p:sp>
        <p:nvSpPr>
          <p:cNvPr id="314" name="Google Shape;314;p4"/>
          <p:cNvSpPr txBox="1"/>
          <p:nvPr/>
        </p:nvSpPr>
        <p:spPr>
          <a:xfrm>
            <a:off x="9390888" y="3657600"/>
            <a:ext cx="19659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Timeout e detecção de stall evitam congelamento.</a:t>
            </a:r>
            <a:endParaRPr/>
          </a:p>
        </p:txBody>
      </p:sp>
      <p:sp>
        <p:nvSpPr>
          <p:cNvPr id="315" name="Google Shape;315;p4"/>
          <p:cNvSpPr txBox="1"/>
          <p:nvPr/>
        </p:nvSpPr>
        <p:spPr>
          <a:xfrm>
            <a:off x="868680" y="5349240"/>
            <a:ext cx="1033272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Não é aprendizado de máquina: é uma lógica determinística de validação e controle. A IA aparece como possibilidade de evolução futura.</a:t>
            </a:r>
            <a:endParaRPr/>
          </a:p>
        </p:txBody>
      </p:sp>
      <p:sp>
        <p:nvSpPr>
          <p:cNvPr id="316" name="Google Shape;316;p4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317" name="Google Shape;317;p4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5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5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5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5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5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5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5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5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5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5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5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5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5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5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5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5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5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5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5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FLUXO OPERACIONAL</a:t>
            </a:r>
            <a:endParaRPr/>
          </a:p>
        </p:txBody>
      </p:sp>
      <p:sp>
        <p:nvSpPr>
          <p:cNvPr id="352" name="Google Shape;352;p5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Do homing à separação</a:t>
            </a:r>
            <a:endParaRPr/>
          </a:p>
        </p:txBody>
      </p:sp>
      <p:sp>
        <p:nvSpPr>
          <p:cNvPr id="353" name="Google Shape;353;p5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5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55" name="Google Shape;355;p5"/>
          <p:cNvSpPr/>
          <p:nvPr/>
        </p:nvSpPr>
        <p:spPr>
          <a:xfrm>
            <a:off x="1069848" y="1847088"/>
            <a:ext cx="640080" cy="640080"/>
          </a:xfrm>
          <a:prstGeom prst="ellipse">
            <a:avLst/>
          </a:prstGeom>
          <a:solidFill>
            <a:srgbClr val="2B70C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5"/>
          <p:cNvSpPr txBox="1"/>
          <p:nvPr/>
        </p:nvSpPr>
        <p:spPr>
          <a:xfrm>
            <a:off x="106984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357" name="Google Shape;357;p5"/>
          <p:cNvSpPr txBox="1"/>
          <p:nvPr/>
        </p:nvSpPr>
        <p:spPr>
          <a:xfrm>
            <a:off x="502920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CALIBRAR</a:t>
            </a:r>
            <a:endParaRPr/>
          </a:p>
        </p:txBody>
      </p:sp>
      <p:sp>
        <p:nvSpPr>
          <p:cNvPr id="358" name="Google Shape;358;p5"/>
          <p:cNvSpPr txBox="1"/>
          <p:nvPr/>
        </p:nvSpPr>
        <p:spPr>
          <a:xfrm>
            <a:off x="502920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Alimentador e esteira voltam à referência.</a:t>
            </a:r>
            <a:endParaRPr/>
          </a:p>
        </p:txBody>
      </p:sp>
      <p:sp>
        <p:nvSpPr>
          <p:cNvPr id="359" name="Google Shape;359;p5"/>
          <p:cNvSpPr txBox="1"/>
          <p:nvPr/>
        </p:nvSpPr>
        <p:spPr>
          <a:xfrm>
            <a:off x="2359152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60" name="Google Shape;360;p5"/>
          <p:cNvSpPr/>
          <p:nvPr/>
        </p:nvSpPr>
        <p:spPr>
          <a:xfrm>
            <a:off x="3401568" y="1847088"/>
            <a:ext cx="640080" cy="640080"/>
          </a:xfrm>
          <a:prstGeom prst="ellipse">
            <a:avLst/>
          </a:prstGeom>
          <a:solidFill>
            <a:srgbClr val="2AC3DE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5"/>
          <p:cNvSpPr txBox="1"/>
          <p:nvPr/>
        </p:nvSpPr>
        <p:spPr>
          <a:xfrm>
            <a:off x="340156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62" name="Google Shape;362;p5"/>
          <p:cNvSpPr txBox="1"/>
          <p:nvPr/>
        </p:nvSpPr>
        <p:spPr>
          <a:xfrm>
            <a:off x="2834639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ESCANEAR</a:t>
            </a:r>
            <a:endParaRPr/>
          </a:p>
        </p:txBody>
      </p:sp>
      <p:sp>
        <p:nvSpPr>
          <p:cNvPr id="363" name="Google Shape;363;p5"/>
          <p:cNvSpPr txBox="1"/>
          <p:nvPr/>
        </p:nvSpPr>
        <p:spPr>
          <a:xfrm>
            <a:off x="2834639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 confirma a cor da peça.</a:t>
            </a:r>
            <a:endParaRPr/>
          </a:p>
        </p:txBody>
      </p:sp>
      <p:sp>
        <p:nvSpPr>
          <p:cNvPr id="364" name="Google Shape;364;p5"/>
          <p:cNvSpPr txBox="1"/>
          <p:nvPr/>
        </p:nvSpPr>
        <p:spPr>
          <a:xfrm>
            <a:off x="4690871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65" name="Google Shape;365;p5"/>
          <p:cNvSpPr/>
          <p:nvPr/>
        </p:nvSpPr>
        <p:spPr>
          <a:xfrm>
            <a:off x="5733288" y="1847088"/>
            <a:ext cx="640080" cy="640080"/>
          </a:xfrm>
          <a:prstGeom prst="ellipse">
            <a:avLst/>
          </a:prstGeom>
          <a:solidFill>
            <a:srgbClr val="F6C32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"/>
          <p:cNvSpPr txBox="1"/>
          <p:nvPr/>
        </p:nvSpPr>
        <p:spPr>
          <a:xfrm>
            <a:off x="573328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367" name="Google Shape;367;p5"/>
          <p:cNvSpPr txBox="1"/>
          <p:nvPr/>
        </p:nvSpPr>
        <p:spPr>
          <a:xfrm>
            <a:off x="5166359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REGISTRAR</a:t>
            </a:r>
            <a:endParaRPr/>
          </a:p>
        </p:txBody>
      </p:sp>
      <p:sp>
        <p:nvSpPr>
          <p:cNvPr id="368" name="Google Shape;368;p5"/>
          <p:cNvSpPr txBox="1"/>
          <p:nvPr/>
        </p:nvSpPr>
        <p:spPr>
          <a:xfrm>
            <a:off x="5166359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 sequência é salva em memória.</a:t>
            </a:r>
            <a:endParaRPr/>
          </a:p>
        </p:txBody>
      </p:sp>
      <p:sp>
        <p:nvSpPr>
          <p:cNvPr id="369" name="Google Shape;369;p5"/>
          <p:cNvSpPr txBox="1"/>
          <p:nvPr/>
        </p:nvSpPr>
        <p:spPr>
          <a:xfrm>
            <a:off x="7022592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70" name="Google Shape;370;p5"/>
          <p:cNvSpPr/>
          <p:nvPr/>
        </p:nvSpPr>
        <p:spPr>
          <a:xfrm>
            <a:off x="8065007" y="1847088"/>
            <a:ext cx="640080" cy="640080"/>
          </a:xfrm>
          <a:prstGeom prst="ellipse">
            <a:avLst/>
          </a:prstGeom>
          <a:solidFill>
            <a:srgbClr val="27A664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5"/>
          <p:cNvSpPr txBox="1"/>
          <p:nvPr/>
        </p:nvSpPr>
        <p:spPr>
          <a:xfrm>
            <a:off x="8065007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372" name="Google Shape;372;p5"/>
          <p:cNvSpPr txBox="1"/>
          <p:nvPr/>
        </p:nvSpPr>
        <p:spPr>
          <a:xfrm>
            <a:off x="7498079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POSICIONAR</a:t>
            </a:r>
            <a:endParaRPr/>
          </a:p>
        </p:txBody>
      </p:sp>
      <p:sp>
        <p:nvSpPr>
          <p:cNvPr id="373" name="Google Shape;373;p5"/>
          <p:cNvSpPr txBox="1"/>
          <p:nvPr/>
        </p:nvSpPr>
        <p:spPr>
          <a:xfrm>
            <a:off x="7498079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Esteira vai ao compartimento da cor.</a:t>
            </a:r>
            <a:endParaRPr/>
          </a:p>
        </p:txBody>
      </p:sp>
      <p:sp>
        <p:nvSpPr>
          <p:cNvPr id="374" name="Google Shape;374;p5"/>
          <p:cNvSpPr txBox="1"/>
          <p:nvPr/>
        </p:nvSpPr>
        <p:spPr>
          <a:xfrm>
            <a:off x="9354311" y="19659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75" name="Google Shape;375;p5"/>
          <p:cNvSpPr/>
          <p:nvPr/>
        </p:nvSpPr>
        <p:spPr>
          <a:xfrm>
            <a:off x="10396728" y="1847088"/>
            <a:ext cx="640080" cy="640080"/>
          </a:xfrm>
          <a:prstGeom prst="ellipse">
            <a:avLst/>
          </a:prstGeom>
          <a:solidFill>
            <a:srgbClr val="DA2D2D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5"/>
          <p:cNvSpPr txBox="1"/>
          <p:nvPr/>
        </p:nvSpPr>
        <p:spPr>
          <a:xfrm>
            <a:off x="10396728" y="19568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377" name="Google Shape;377;p5"/>
          <p:cNvSpPr txBox="1"/>
          <p:nvPr/>
        </p:nvSpPr>
        <p:spPr>
          <a:xfrm>
            <a:off x="9829800" y="267004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DA2D2D"/>
                </a:solidFill>
                <a:latin typeface="Arial"/>
                <a:ea typeface="Arial"/>
                <a:cs typeface="Arial"/>
                <a:sym typeface="Arial"/>
              </a:rPr>
              <a:t>EJETAR</a:t>
            </a:r>
            <a:endParaRPr/>
          </a:p>
        </p:txBody>
      </p:sp>
      <p:sp>
        <p:nvSpPr>
          <p:cNvPr id="378" name="Google Shape;378;p5"/>
          <p:cNvSpPr txBox="1"/>
          <p:nvPr/>
        </p:nvSpPr>
        <p:spPr>
          <a:xfrm>
            <a:off x="9829800" y="3127248"/>
            <a:ext cx="178308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Peça é liberada e mecanismo retorna.</a:t>
            </a:r>
            <a:endParaRPr/>
          </a:p>
        </p:txBody>
      </p:sp>
      <p:sp>
        <p:nvSpPr>
          <p:cNvPr id="379" name="Google Shape;379;p5"/>
          <p:cNvSpPr txBox="1"/>
          <p:nvPr/>
        </p:nvSpPr>
        <p:spPr>
          <a:xfrm>
            <a:off x="685800" y="5074920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O botão central permite encerrar a leitura antes de completar 8 peças.</a:t>
            </a:r>
            <a:endParaRPr/>
          </a:p>
        </p:txBody>
      </p:sp>
      <p:sp>
        <p:nvSpPr>
          <p:cNvPr id="380" name="Google Shape;380;p5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381" name="Google Shape;381;p5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6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6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6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6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6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6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6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6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6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6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6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6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6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6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6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6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6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6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6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6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6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6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6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6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6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6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6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6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6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CLASSIFICAÇÃO</a:t>
            </a:r>
            <a:endParaRPr/>
          </a:p>
        </p:txBody>
      </p:sp>
      <p:sp>
        <p:nvSpPr>
          <p:cNvPr id="416" name="Google Shape;416;p6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Cada cor possui uma posição de destino</a:t>
            </a:r>
            <a:endParaRPr/>
          </a:p>
        </p:txBody>
      </p:sp>
      <p:sp>
        <p:nvSpPr>
          <p:cNvPr id="417" name="Google Shape;417;p6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6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419" name="Google Shape;419;p6"/>
          <p:cNvSpPr/>
          <p:nvPr/>
        </p:nvSpPr>
        <p:spPr>
          <a:xfrm>
            <a:off x="713232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6"/>
          <p:cNvSpPr/>
          <p:nvPr/>
        </p:nvSpPr>
        <p:spPr>
          <a:xfrm>
            <a:off x="1426464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0066B3"/>
          </a:solidFill>
          <a:ln w="9525" cap="flat" cmpd="sng">
            <a:solidFill>
              <a:srgbClr val="0066B3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6"/>
          <p:cNvSpPr txBox="1"/>
          <p:nvPr/>
        </p:nvSpPr>
        <p:spPr>
          <a:xfrm>
            <a:off x="896112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AZUL</a:t>
            </a:r>
            <a:endParaRPr/>
          </a:p>
        </p:txBody>
      </p:sp>
      <p:sp>
        <p:nvSpPr>
          <p:cNvPr id="422" name="Google Shape;422;p6"/>
          <p:cNvSpPr txBox="1"/>
          <p:nvPr/>
        </p:nvSpPr>
        <p:spPr>
          <a:xfrm>
            <a:off x="896112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0066B3"/>
                </a:solidFill>
                <a:latin typeface="Play"/>
                <a:ea typeface="Play"/>
                <a:cs typeface="Play"/>
                <a:sym typeface="Play"/>
              </a:rPr>
              <a:t>120°</a:t>
            </a:r>
            <a:endParaRPr/>
          </a:p>
        </p:txBody>
      </p:sp>
      <p:sp>
        <p:nvSpPr>
          <p:cNvPr id="423" name="Google Shape;423;p6"/>
          <p:cNvSpPr/>
          <p:nvPr/>
        </p:nvSpPr>
        <p:spPr>
          <a:xfrm>
            <a:off x="3502152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6"/>
          <p:cNvSpPr/>
          <p:nvPr/>
        </p:nvSpPr>
        <p:spPr>
          <a:xfrm>
            <a:off x="4215384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27A664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"/>
          <p:cNvSpPr txBox="1"/>
          <p:nvPr/>
        </p:nvSpPr>
        <p:spPr>
          <a:xfrm>
            <a:off x="3685032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VERDE</a:t>
            </a:r>
            <a:endParaRPr/>
          </a:p>
        </p:txBody>
      </p:sp>
      <p:sp>
        <p:nvSpPr>
          <p:cNvPr id="426" name="Google Shape;426;p6"/>
          <p:cNvSpPr txBox="1"/>
          <p:nvPr/>
        </p:nvSpPr>
        <p:spPr>
          <a:xfrm>
            <a:off x="3685032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7A664"/>
                </a:solidFill>
                <a:latin typeface="Play"/>
                <a:ea typeface="Play"/>
                <a:cs typeface="Play"/>
                <a:sym typeface="Play"/>
              </a:rPr>
              <a:t>240°</a:t>
            </a:r>
            <a:endParaRPr/>
          </a:p>
        </p:txBody>
      </p:sp>
      <p:sp>
        <p:nvSpPr>
          <p:cNvPr id="427" name="Google Shape;427;p6"/>
          <p:cNvSpPr/>
          <p:nvPr/>
        </p:nvSpPr>
        <p:spPr>
          <a:xfrm>
            <a:off x="6291072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6"/>
          <p:cNvSpPr/>
          <p:nvPr/>
        </p:nvSpPr>
        <p:spPr>
          <a:xfrm>
            <a:off x="7004304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F6C320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6"/>
          <p:cNvSpPr txBox="1"/>
          <p:nvPr/>
        </p:nvSpPr>
        <p:spPr>
          <a:xfrm>
            <a:off x="6473952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AMARELO</a:t>
            </a:r>
            <a:endParaRPr/>
          </a:p>
        </p:txBody>
      </p:sp>
      <p:sp>
        <p:nvSpPr>
          <p:cNvPr id="430" name="Google Shape;430;p6"/>
          <p:cNvSpPr txBox="1"/>
          <p:nvPr/>
        </p:nvSpPr>
        <p:spPr>
          <a:xfrm>
            <a:off x="6473952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F6C320"/>
                </a:solidFill>
                <a:latin typeface="Play"/>
                <a:ea typeface="Play"/>
                <a:cs typeface="Play"/>
                <a:sym typeface="Play"/>
              </a:rPr>
              <a:t>360°</a:t>
            </a:r>
            <a:endParaRPr/>
          </a:p>
        </p:txBody>
      </p:sp>
      <p:sp>
        <p:nvSpPr>
          <p:cNvPr id="431" name="Google Shape;431;p6"/>
          <p:cNvSpPr/>
          <p:nvPr/>
        </p:nvSpPr>
        <p:spPr>
          <a:xfrm>
            <a:off x="9079991" y="1828800"/>
            <a:ext cx="2423160" cy="301752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6"/>
          <p:cNvSpPr/>
          <p:nvPr/>
        </p:nvSpPr>
        <p:spPr>
          <a:xfrm>
            <a:off x="9793223" y="2212848"/>
            <a:ext cx="987552" cy="987552"/>
          </a:xfrm>
          <a:prstGeom prst="roundRect">
            <a:avLst>
              <a:gd name="adj" fmla="val 16667"/>
            </a:avLst>
          </a:prstGeom>
          <a:solidFill>
            <a:srgbClr val="DA2D2D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6"/>
          <p:cNvSpPr txBox="1"/>
          <p:nvPr/>
        </p:nvSpPr>
        <p:spPr>
          <a:xfrm>
            <a:off x="9262871" y="3493008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VERMELHO</a:t>
            </a:r>
            <a:endParaRPr/>
          </a:p>
        </p:txBody>
      </p:sp>
      <p:sp>
        <p:nvSpPr>
          <p:cNvPr id="434" name="Google Shape;434;p6"/>
          <p:cNvSpPr txBox="1"/>
          <p:nvPr/>
        </p:nvSpPr>
        <p:spPr>
          <a:xfrm>
            <a:off x="9262871" y="3977639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DA2D2D"/>
                </a:solidFill>
                <a:latin typeface="Play"/>
                <a:ea typeface="Play"/>
                <a:cs typeface="Play"/>
                <a:sym typeface="Play"/>
              </a:rPr>
              <a:t>480°</a:t>
            </a:r>
            <a:endParaRPr/>
          </a:p>
        </p:txBody>
      </p:sp>
      <p:sp>
        <p:nvSpPr>
          <p:cNvPr id="435" name="Google Shape;435;p6"/>
          <p:cNvSpPr txBox="1"/>
          <p:nvPr/>
        </p:nvSpPr>
        <p:spPr>
          <a:xfrm>
            <a:off x="1097280" y="5230368"/>
            <a:ext cx="996696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A posição angular funciona como o mapa físico entre a decisão do software e o destino real da peça.</a:t>
            </a:r>
            <a:endParaRPr/>
          </a:p>
        </p:txBody>
      </p:sp>
      <p:sp>
        <p:nvSpPr>
          <p:cNvPr id="436" name="Google Shape;436;p6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437" name="Google Shape;437;p6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7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7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7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7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7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7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7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7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7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7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7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7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7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7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7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7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7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7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7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7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7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7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7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7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7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7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7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7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7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7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ENGENHARIA</a:t>
            </a:r>
            <a:endParaRPr/>
          </a:p>
        </p:txBody>
      </p:sp>
      <p:sp>
        <p:nvSpPr>
          <p:cNvPr id="472" name="Google Shape;472;p7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Desafios visíveis na implementação</a:t>
            </a:r>
            <a:endParaRPr/>
          </a:p>
        </p:txBody>
      </p:sp>
      <p:sp>
        <p:nvSpPr>
          <p:cNvPr id="473" name="Google Shape;473;p7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7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475" name="Google Shape;475;p7"/>
          <p:cNvSpPr/>
          <p:nvPr/>
        </p:nvSpPr>
        <p:spPr>
          <a:xfrm>
            <a:off x="777240" y="1874519"/>
            <a:ext cx="3337560" cy="24231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7"/>
          <p:cNvSpPr txBox="1"/>
          <p:nvPr/>
        </p:nvSpPr>
        <p:spPr>
          <a:xfrm>
            <a:off x="1051560" y="22402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LEITURA</a:t>
            </a:r>
            <a:endParaRPr/>
          </a:p>
        </p:txBody>
      </p:sp>
      <p:sp>
        <p:nvSpPr>
          <p:cNvPr id="477" name="Google Shape;477;p7"/>
          <p:cNvSpPr txBox="1"/>
          <p:nvPr/>
        </p:nvSpPr>
        <p:spPr>
          <a:xfrm>
            <a:off x="1051560" y="2816352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Evitar uma identificação instável da cor.</a:t>
            </a:r>
            <a:endParaRPr/>
          </a:p>
        </p:txBody>
      </p:sp>
      <p:sp>
        <p:nvSpPr>
          <p:cNvPr id="478" name="Google Shape;478;p7"/>
          <p:cNvSpPr/>
          <p:nvPr/>
        </p:nvSpPr>
        <p:spPr>
          <a:xfrm>
            <a:off x="4572000" y="1874519"/>
            <a:ext cx="3337560" cy="24231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7"/>
          <p:cNvSpPr txBox="1"/>
          <p:nvPr/>
        </p:nvSpPr>
        <p:spPr>
          <a:xfrm>
            <a:off x="4846320" y="22402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DA2D2D"/>
                </a:solidFill>
                <a:latin typeface="Arial"/>
                <a:ea typeface="Arial"/>
                <a:cs typeface="Arial"/>
                <a:sym typeface="Arial"/>
              </a:rPr>
              <a:t>MECÂNICA</a:t>
            </a:r>
            <a:endParaRPr/>
          </a:p>
        </p:txBody>
      </p:sp>
      <p:sp>
        <p:nvSpPr>
          <p:cNvPr id="480" name="Google Shape;480;p7"/>
          <p:cNvSpPr txBox="1"/>
          <p:nvPr/>
        </p:nvSpPr>
        <p:spPr>
          <a:xfrm>
            <a:off x="4846320" y="2816352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Impedir que o alimentador fique travado.</a:t>
            </a:r>
            <a:endParaRPr/>
          </a:p>
        </p:txBody>
      </p:sp>
      <p:sp>
        <p:nvSpPr>
          <p:cNvPr id="481" name="Google Shape;481;p7"/>
          <p:cNvSpPr/>
          <p:nvPr/>
        </p:nvSpPr>
        <p:spPr>
          <a:xfrm>
            <a:off x="8366760" y="1874519"/>
            <a:ext cx="3337560" cy="24231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7"/>
          <p:cNvSpPr txBox="1"/>
          <p:nvPr/>
        </p:nvSpPr>
        <p:spPr>
          <a:xfrm>
            <a:off x="8641080" y="2240280"/>
            <a:ext cx="2788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REFERÊNCIA</a:t>
            </a:r>
            <a:endParaRPr/>
          </a:p>
        </p:txBody>
      </p:sp>
      <p:sp>
        <p:nvSpPr>
          <p:cNvPr id="483" name="Google Shape;483;p7"/>
          <p:cNvSpPr txBox="1"/>
          <p:nvPr/>
        </p:nvSpPr>
        <p:spPr>
          <a:xfrm>
            <a:off x="8641080" y="2816352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Garantir que a esteira saiba onde está o zero.</a:t>
            </a:r>
            <a:endParaRPr/>
          </a:p>
        </p:txBody>
      </p:sp>
      <p:sp>
        <p:nvSpPr>
          <p:cNvPr id="484" name="Google Shape;484;p7"/>
          <p:cNvSpPr txBox="1"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Importante: o briefing não registra quais problemas foram realmente enfrentados pelo grupo. Estes pontos são evidências técnicas do código e devem ser confirmados oralmente como desafios históricos.</a:t>
            </a:r>
            <a:endParaRPr/>
          </a:p>
        </p:txBody>
      </p:sp>
      <p:sp>
        <p:nvSpPr>
          <p:cNvPr id="485" name="Google Shape;485;p7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486" name="Google Shape;486;p7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8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8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8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8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8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8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8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8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8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8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8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8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8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8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8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8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8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8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8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8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8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8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8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8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8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8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8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8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APRENDIZADO</a:t>
            </a:r>
            <a:endParaRPr/>
          </a:p>
        </p:txBody>
      </p:sp>
      <p:sp>
        <p:nvSpPr>
          <p:cNvPr id="521" name="Google Shape;521;p8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que o projeto conecta na prática</a:t>
            </a:r>
            <a:endParaRPr/>
          </a:p>
        </p:txBody>
      </p:sp>
      <p:sp>
        <p:nvSpPr>
          <p:cNvPr id="522" name="Google Shape;522;p8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8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524" name="Google Shape;524;p8"/>
          <p:cNvSpPr/>
          <p:nvPr/>
        </p:nvSpPr>
        <p:spPr>
          <a:xfrm>
            <a:off x="777240" y="169164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8"/>
          <p:cNvSpPr txBox="1"/>
          <p:nvPr/>
        </p:nvSpPr>
        <p:spPr>
          <a:xfrm>
            <a:off x="1097280" y="1874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ROBÓTICA</a:t>
            </a:r>
            <a:endParaRPr/>
          </a:p>
        </p:txBody>
      </p:sp>
      <p:sp>
        <p:nvSpPr>
          <p:cNvPr id="526" name="Google Shape;526;p8"/>
          <p:cNvSpPr txBox="1"/>
          <p:nvPr/>
        </p:nvSpPr>
        <p:spPr>
          <a:xfrm>
            <a:off x="3063240" y="185623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Sensores, atuadores e movimento</a:t>
            </a:r>
            <a:endParaRPr/>
          </a:p>
        </p:txBody>
      </p:sp>
      <p:sp>
        <p:nvSpPr>
          <p:cNvPr id="527" name="Google Shape;527;p8"/>
          <p:cNvSpPr/>
          <p:nvPr/>
        </p:nvSpPr>
        <p:spPr>
          <a:xfrm>
            <a:off x="777240" y="269748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8"/>
          <p:cNvSpPr txBox="1"/>
          <p:nvPr/>
        </p:nvSpPr>
        <p:spPr>
          <a:xfrm>
            <a:off x="1097280" y="2880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PROGRAMAÇÃO</a:t>
            </a:r>
            <a:endParaRPr/>
          </a:p>
        </p:txBody>
      </p:sp>
      <p:sp>
        <p:nvSpPr>
          <p:cNvPr id="529" name="Google Shape;529;p8"/>
          <p:cNvSpPr txBox="1"/>
          <p:nvPr/>
        </p:nvSpPr>
        <p:spPr>
          <a:xfrm>
            <a:off x="3063240" y="286207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Decisão, funções e tratamento de falhas</a:t>
            </a:r>
            <a:endParaRPr/>
          </a:p>
        </p:txBody>
      </p:sp>
      <p:sp>
        <p:nvSpPr>
          <p:cNvPr id="530" name="Google Shape;530;p8"/>
          <p:cNvSpPr/>
          <p:nvPr/>
        </p:nvSpPr>
        <p:spPr>
          <a:xfrm>
            <a:off x="777240" y="370332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8"/>
          <p:cNvSpPr txBox="1"/>
          <p:nvPr/>
        </p:nvSpPr>
        <p:spPr>
          <a:xfrm>
            <a:off x="1097280" y="38862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endParaRPr/>
          </a:p>
        </p:txBody>
      </p:sp>
      <p:sp>
        <p:nvSpPr>
          <p:cNvPr id="532" name="Google Shape;532;p8"/>
          <p:cNvSpPr txBox="1"/>
          <p:nvPr/>
        </p:nvSpPr>
        <p:spPr>
          <a:xfrm>
            <a:off x="3063240" y="386791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Entrada → processamento → saída</a:t>
            </a:r>
            <a:endParaRPr/>
          </a:p>
        </p:txBody>
      </p:sp>
      <p:sp>
        <p:nvSpPr>
          <p:cNvPr id="533" name="Google Shape;533;p8"/>
          <p:cNvSpPr/>
          <p:nvPr/>
        </p:nvSpPr>
        <p:spPr>
          <a:xfrm>
            <a:off x="777240" y="4709160"/>
            <a:ext cx="10607040" cy="713232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1097280" y="4892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INTEGRAÇÃO</a:t>
            </a:r>
            <a:endParaRPr/>
          </a:p>
        </p:txBody>
      </p:sp>
      <p:sp>
        <p:nvSpPr>
          <p:cNvPr id="535" name="Google Shape;535;p8"/>
          <p:cNvSpPr txBox="1"/>
          <p:nvPr/>
        </p:nvSpPr>
        <p:spPr>
          <a:xfrm>
            <a:off x="3063240" y="4873752"/>
            <a:ext cx="7498079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Software + estrutura mecânica</a:t>
            </a:r>
            <a:endParaRPr/>
          </a:p>
        </p:txBody>
      </p:sp>
      <p:sp>
        <p:nvSpPr>
          <p:cNvPr id="536" name="Google Shape;536;p8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537" name="Google Shape;537;p8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9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9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9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9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9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9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9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9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9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9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9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9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9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9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9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9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9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9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9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9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9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9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9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9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9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9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9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/>
          </a:p>
        </p:txBody>
      </p:sp>
      <p:sp>
        <p:nvSpPr>
          <p:cNvPr id="572" name="Google Shape;572;p9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que já pode ser demonstrado</a:t>
            </a:r>
            <a:endParaRPr/>
          </a:p>
        </p:txBody>
      </p:sp>
      <p:sp>
        <p:nvSpPr>
          <p:cNvPr id="573" name="Google Shape;573;p9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9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575" name="Google Shape;575;p9"/>
          <p:cNvSpPr/>
          <p:nvPr/>
        </p:nvSpPr>
        <p:spPr>
          <a:xfrm>
            <a:off x="685800" y="1664208"/>
            <a:ext cx="5074920" cy="420624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9"/>
          <p:cNvSpPr txBox="1"/>
          <p:nvPr/>
        </p:nvSpPr>
        <p:spPr>
          <a:xfrm>
            <a:off x="1005840" y="196596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RESULTADO INFORMADO PELO GRUPO</a:t>
            </a:r>
            <a:endParaRPr/>
          </a:p>
        </p:txBody>
      </p:sp>
      <p:sp>
        <p:nvSpPr>
          <p:cNvPr id="577" name="Google Shape;577;p9"/>
          <p:cNvSpPr txBox="1"/>
          <p:nvPr/>
        </p:nvSpPr>
        <p:spPr>
          <a:xfrm>
            <a:off x="1005840" y="2423160"/>
            <a:ext cx="429768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 protótipo identificou as cores e posicionou as peças corretamente.</a:t>
            </a:r>
            <a:endParaRPr/>
          </a:p>
        </p:txBody>
      </p:sp>
      <p:sp>
        <p:nvSpPr>
          <p:cNvPr id="579" name="Google Shape;579;p9"/>
          <p:cNvSpPr/>
          <p:nvPr/>
        </p:nvSpPr>
        <p:spPr>
          <a:xfrm>
            <a:off x="6172200" y="548641"/>
            <a:ext cx="5212080" cy="3787444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DA2D2D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sz="1800">
              <a:solidFill>
                <a:schemeClr val="dk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581" name="Google Shape;581;p9"/>
          <p:cNvSpPr/>
          <p:nvPr/>
        </p:nvSpPr>
        <p:spPr>
          <a:xfrm>
            <a:off x="6172200" y="4553712"/>
            <a:ext cx="5212080" cy="1527048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9"/>
          <p:cNvSpPr txBox="1"/>
          <p:nvPr/>
        </p:nvSpPr>
        <p:spPr>
          <a:xfrm>
            <a:off x="6400800" y="4709160"/>
            <a:ext cx="475488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VÍDEO </a:t>
            </a:r>
            <a:endParaRPr dirty="0"/>
          </a:p>
        </p:txBody>
      </p:sp>
      <p:sp>
        <p:nvSpPr>
          <p:cNvPr id="584" name="Google Shape;584;p9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585" name="Google Shape;585;p9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11721AA-3582-458D-81B9-7AB8B196120A}"/>
              </a:ext>
            </a:extLst>
          </p:cNvPr>
          <p:cNvSpPr txBox="1"/>
          <p:nvPr/>
        </p:nvSpPr>
        <p:spPr>
          <a:xfrm>
            <a:off x="967435" y="3703320"/>
            <a:ext cx="461771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O grupo declarou o cumprimento integral dos objetivos estabelecidos, alcançando </a:t>
            </a:r>
            <a:r>
              <a:rPr lang="pt-BR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100% de execução das atividades previstas</a:t>
            </a:r>
            <a:r>
              <a:rPr lang="pt-BR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. As entregas contemplaram a construção do projeto em LEGO, o desenvolvimento do código de programação e a realização dos testes de validação, garantindo a correta execução e distribuição das peças analisadas.</a:t>
            </a:r>
          </a:p>
          <a:p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7BABF23-4D5C-4CD3-A839-D42BF4147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925" y="803986"/>
            <a:ext cx="4473245" cy="3354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AEEBAB6-2F09-45F3-B10F-A56AEDB5072C}"/>
              </a:ext>
            </a:extLst>
          </p:cNvPr>
          <p:cNvSpPr txBox="1"/>
          <p:nvPr/>
        </p:nvSpPr>
        <p:spPr>
          <a:xfrm>
            <a:off x="6700837" y="5243513"/>
            <a:ext cx="43408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hlinkClick r:id="rId4"/>
              </a:rPr>
              <a:t>Vídeo Color </a:t>
            </a:r>
            <a:r>
              <a:rPr lang="pt-BR" sz="3600" dirty="0" err="1">
                <a:solidFill>
                  <a:schemeClr val="bg1"/>
                </a:solidFill>
                <a:hlinkClick r:id="rId4"/>
              </a:rPr>
              <a:t>Sorter</a:t>
            </a:r>
            <a:endParaRPr lang="pt-BR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0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0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0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0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0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0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0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0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0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0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0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0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0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0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0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0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0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0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0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0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0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0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0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0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0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0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10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0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10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EVOLUÇÃO</a:t>
            </a:r>
            <a:endParaRPr/>
          </a:p>
        </p:txBody>
      </p:sp>
      <p:sp>
        <p:nvSpPr>
          <p:cNvPr id="620" name="Google Shape;620;p10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Onde a IA pode entrar no futuro</a:t>
            </a:r>
            <a:endParaRPr/>
          </a:p>
        </p:txBody>
      </p:sp>
      <p:sp>
        <p:nvSpPr>
          <p:cNvPr id="621" name="Google Shape;621;p10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0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623" name="Google Shape;623;p10"/>
          <p:cNvSpPr txBox="1"/>
          <p:nvPr/>
        </p:nvSpPr>
        <p:spPr>
          <a:xfrm>
            <a:off x="731520" y="1627632"/>
            <a:ext cx="106984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 projeto atual usa regras e sensores. A próxima evolução pode aumentar autonomia e capacidade de decisão.</a:t>
            </a:r>
            <a:endParaRPr/>
          </a:p>
        </p:txBody>
      </p:sp>
      <p:sp>
        <p:nvSpPr>
          <p:cNvPr id="624" name="Google Shape;624;p10"/>
          <p:cNvSpPr/>
          <p:nvPr/>
        </p:nvSpPr>
        <p:spPr>
          <a:xfrm>
            <a:off x="685800" y="242316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0"/>
          <p:cNvSpPr txBox="1"/>
          <p:nvPr/>
        </p:nvSpPr>
        <p:spPr>
          <a:xfrm>
            <a:off x="960120" y="263347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VISÃO COMPUTACIONAL</a:t>
            </a:r>
            <a:endParaRPr/>
          </a:p>
        </p:txBody>
      </p:sp>
      <p:sp>
        <p:nvSpPr>
          <p:cNvPr id="626" name="Google Shape;626;p10"/>
          <p:cNvSpPr txBox="1"/>
          <p:nvPr/>
        </p:nvSpPr>
        <p:spPr>
          <a:xfrm>
            <a:off x="3063240" y="262432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Câmera para reconhecer cor, forma ou defeitos.</a:t>
            </a:r>
            <a:endParaRPr/>
          </a:p>
        </p:txBody>
      </p:sp>
      <p:sp>
        <p:nvSpPr>
          <p:cNvPr id="627" name="Google Shape;627;p10"/>
          <p:cNvSpPr/>
          <p:nvPr/>
        </p:nvSpPr>
        <p:spPr>
          <a:xfrm>
            <a:off x="6309360" y="242316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B70C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0"/>
          <p:cNvSpPr txBox="1"/>
          <p:nvPr/>
        </p:nvSpPr>
        <p:spPr>
          <a:xfrm>
            <a:off x="6583680" y="263347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 dirty="0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APRENDIZADO DE MÁQUINA</a:t>
            </a:r>
            <a:endParaRPr dirty="0"/>
          </a:p>
        </p:txBody>
      </p:sp>
      <p:sp>
        <p:nvSpPr>
          <p:cNvPr id="629" name="Google Shape;629;p10"/>
          <p:cNvSpPr txBox="1"/>
          <p:nvPr/>
        </p:nvSpPr>
        <p:spPr>
          <a:xfrm>
            <a:off x="8686800" y="2624328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Modelo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treinado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classificar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padrões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complexos</a:t>
            </a:r>
            <a:r>
              <a:rPr lang="en-US" sz="14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630" name="Google Shape;630;p10"/>
          <p:cNvSpPr/>
          <p:nvPr/>
        </p:nvSpPr>
        <p:spPr>
          <a:xfrm>
            <a:off x="685800" y="393192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7A664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0"/>
          <p:cNvSpPr txBox="1"/>
          <p:nvPr/>
        </p:nvSpPr>
        <p:spPr>
          <a:xfrm>
            <a:off x="960120" y="414223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MAIS SENSORES</a:t>
            </a:r>
            <a:endParaRPr/>
          </a:p>
        </p:txBody>
      </p:sp>
      <p:sp>
        <p:nvSpPr>
          <p:cNvPr id="632" name="Google Shape;632;p10"/>
          <p:cNvSpPr txBox="1"/>
          <p:nvPr/>
        </p:nvSpPr>
        <p:spPr>
          <a:xfrm>
            <a:off x="3063240" y="4133087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Redundância para melhorar precisão e confiabilidade.</a:t>
            </a:r>
            <a:endParaRPr/>
          </a:p>
        </p:txBody>
      </p:sp>
      <p:sp>
        <p:nvSpPr>
          <p:cNvPr id="633" name="Google Shape;633;p10"/>
          <p:cNvSpPr/>
          <p:nvPr/>
        </p:nvSpPr>
        <p:spPr>
          <a:xfrm>
            <a:off x="6309360" y="3931920"/>
            <a:ext cx="5074920" cy="114300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F6C320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10"/>
          <p:cNvSpPr txBox="1"/>
          <p:nvPr/>
        </p:nvSpPr>
        <p:spPr>
          <a:xfrm>
            <a:off x="6583680" y="4142232"/>
            <a:ext cx="20574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ALIMENTAÇÃO AUTOMÁTICA</a:t>
            </a:r>
            <a:endParaRPr/>
          </a:p>
        </p:txBody>
      </p:sp>
      <p:sp>
        <p:nvSpPr>
          <p:cNvPr id="635" name="Google Shape;635;p10"/>
          <p:cNvSpPr txBox="1"/>
          <p:nvPr/>
        </p:nvSpPr>
        <p:spPr>
          <a:xfrm>
            <a:off x="8686800" y="4133087"/>
            <a:ext cx="2331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Reduzir a dependência do usuário no fluxo.</a:t>
            </a:r>
            <a:endParaRPr/>
          </a:p>
        </p:txBody>
      </p:sp>
      <p:sp>
        <p:nvSpPr>
          <p:cNvPr id="636" name="Google Shape;636;p10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637" name="Google Shape;637;p10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11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1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1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1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11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1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1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1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11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1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1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1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11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1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11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1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11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1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11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1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1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1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11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1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11"/>
          <p:cNvSpPr/>
          <p:nvPr/>
        </p:nvSpPr>
        <p:spPr>
          <a:xfrm>
            <a:off x="0" y="4480559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1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1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11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1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1"/>
          <p:cNvSpPr txBox="1"/>
          <p:nvPr/>
        </p:nvSpPr>
        <p:spPr>
          <a:xfrm>
            <a:off x="640080" y="38404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/>
          </a:p>
        </p:txBody>
      </p:sp>
      <p:sp>
        <p:nvSpPr>
          <p:cNvPr id="672" name="Google Shape;672;p11"/>
          <p:cNvSpPr txBox="1"/>
          <p:nvPr/>
        </p:nvSpPr>
        <p:spPr>
          <a:xfrm>
            <a:off x="640080" y="7132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Um protótipo simples, mas completo como integração</a:t>
            </a:r>
            <a:endParaRPr/>
          </a:p>
        </p:txBody>
      </p:sp>
      <p:sp>
        <p:nvSpPr>
          <p:cNvPr id="673" name="Google Shape;673;p11"/>
          <p:cNvSpPr/>
          <p:nvPr/>
        </p:nvSpPr>
        <p:spPr>
          <a:xfrm>
            <a:off x="640080" y="1353312"/>
            <a:ext cx="1005840" cy="36576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11"/>
          <p:cNvSpPr txBox="1"/>
          <p:nvPr/>
        </p:nvSpPr>
        <p:spPr>
          <a:xfrm>
            <a:off x="11064240" y="43891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675" name="Google Shape;675;p11"/>
          <p:cNvSpPr txBox="1"/>
          <p:nvPr/>
        </p:nvSpPr>
        <p:spPr>
          <a:xfrm>
            <a:off x="914400" y="1828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SENSOR</a:t>
            </a:r>
            <a:endParaRPr/>
          </a:p>
        </p:txBody>
      </p:sp>
      <p:sp>
        <p:nvSpPr>
          <p:cNvPr id="676" name="Google Shape;676;p11"/>
          <p:cNvSpPr txBox="1"/>
          <p:nvPr/>
        </p:nvSpPr>
        <p:spPr>
          <a:xfrm>
            <a:off x="2880360" y="1828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7" name="Google Shape;677;p11"/>
          <p:cNvSpPr txBox="1"/>
          <p:nvPr/>
        </p:nvSpPr>
        <p:spPr>
          <a:xfrm>
            <a:off x="3474720" y="182880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B70C4"/>
                </a:solidFill>
                <a:latin typeface="Arial"/>
                <a:ea typeface="Arial"/>
                <a:cs typeface="Arial"/>
                <a:sym typeface="Arial"/>
              </a:rPr>
              <a:t>DECISÃO</a:t>
            </a:r>
            <a:endParaRPr/>
          </a:p>
        </p:txBody>
      </p:sp>
      <p:sp>
        <p:nvSpPr>
          <p:cNvPr id="678" name="Google Shape;678;p11"/>
          <p:cNvSpPr txBox="1"/>
          <p:nvPr/>
        </p:nvSpPr>
        <p:spPr>
          <a:xfrm>
            <a:off x="5440680" y="1828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79" name="Google Shape;679;p11"/>
          <p:cNvSpPr txBox="1"/>
          <p:nvPr/>
        </p:nvSpPr>
        <p:spPr>
          <a:xfrm>
            <a:off x="6035040" y="1828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27A664"/>
                </a:solidFill>
                <a:latin typeface="Arial"/>
                <a:ea typeface="Arial"/>
                <a:cs typeface="Arial"/>
                <a:sym typeface="Arial"/>
              </a:rPr>
              <a:t>MOVIMENTO</a:t>
            </a:r>
            <a:endParaRPr/>
          </a:p>
        </p:txBody>
      </p:sp>
      <p:sp>
        <p:nvSpPr>
          <p:cNvPr id="680" name="Google Shape;680;p11"/>
          <p:cNvSpPr txBox="1"/>
          <p:nvPr/>
        </p:nvSpPr>
        <p:spPr>
          <a:xfrm>
            <a:off x="8366760" y="18288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681" name="Google Shape;681;p11"/>
          <p:cNvSpPr txBox="1"/>
          <p:nvPr/>
        </p:nvSpPr>
        <p:spPr>
          <a:xfrm>
            <a:off x="8961120" y="1828800"/>
            <a:ext cx="2286000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>
                <a:solidFill>
                  <a:srgbClr val="F6C320"/>
                </a:solidFill>
                <a:latin typeface="Arial"/>
                <a:ea typeface="Arial"/>
                <a:cs typeface="Arial"/>
                <a:sym typeface="Arial"/>
              </a:rPr>
              <a:t>SEPARAÇÃO</a:t>
            </a:r>
            <a:endParaRPr dirty="0"/>
          </a:p>
        </p:txBody>
      </p:sp>
      <p:sp>
        <p:nvSpPr>
          <p:cNvPr id="682" name="Google Shape;682;p11"/>
          <p:cNvSpPr/>
          <p:nvPr/>
        </p:nvSpPr>
        <p:spPr>
          <a:xfrm>
            <a:off x="914400" y="2926080"/>
            <a:ext cx="10287000" cy="1965960"/>
          </a:xfrm>
          <a:prstGeom prst="roundRect">
            <a:avLst>
              <a:gd name="adj" fmla="val 16667"/>
            </a:avLst>
          </a:prstGeom>
          <a:solidFill>
            <a:srgbClr val="0E233A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11"/>
          <p:cNvSpPr txBox="1"/>
          <p:nvPr/>
        </p:nvSpPr>
        <p:spPr>
          <a:xfrm>
            <a:off x="1325880" y="3383280"/>
            <a:ext cx="946404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Robô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Sorteador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de Cores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demonstra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como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programação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robótica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podem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transformar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leitura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de sensor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em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física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controlada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 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solução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ainda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depende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do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usuário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e de um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único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sensor, mas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já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cria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uma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base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clara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para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automação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mais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avançada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  <p:sp>
        <p:nvSpPr>
          <p:cNvPr id="684" name="Google Shape;684;p11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685" name="Google Shape;685;p11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2"/>
          <p:cNvSpPr/>
          <p:nvPr/>
        </p:nvSpPr>
        <p:spPr>
          <a:xfrm>
            <a:off x="4114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12"/>
          <p:cNvSpPr/>
          <p:nvPr/>
        </p:nvSpPr>
        <p:spPr>
          <a:xfrm>
            <a:off x="11430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12"/>
          <p:cNvSpPr/>
          <p:nvPr/>
        </p:nvSpPr>
        <p:spPr>
          <a:xfrm>
            <a:off x="18745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2"/>
          <p:cNvSpPr/>
          <p:nvPr/>
        </p:nvSpPr>
        <p:spPr>
          <a:xfrm>
            <a:off x="26060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2"/>
          <p:cNvSpPr/>
          <p:nvPr/>
        </p:nvSpPr>
        <p:spPr>
          <a:xfrm>
            <a:off x="33375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12"/>
          <p:cNvSpPr/>
          <p:nvPr/>
        </p:nvSpPr>
        <p:spPr>
          <a:xfrm>
            <a:off x="40690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2"/>
          <p:cNvSpPr/>
          <p:nvPr/>
        </p:nvSpPr>
        <p:spPr>
          <a:xfrm>
            <a:off x="48006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12"/>
          <p:cNvSpPr/>
          <p:nvPr/>
        </p:nvSpPr>
        <p:spPr>
          <a:xfrm>
            <a:off x="55321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2"/>
          <p:cNvSpPr/>
          <p:nvPr/>
        </p:nvSpPr>
        <p:spPr>
          <a:xfrm>
            <a:off x="62636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2"/>
          <p:cNvSpPr/>
          <p:nvPr/>
        </p:nvSpPr>
        <p:spPr>
          <a:xfrm>
            <a:off x="69951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2"/>
          <p:cNvSpPr/>
          <p:nvPr/>
        </p:nvSpPr>
        <p:spPr>
          <a:xfrm>
            <a:off x="7726679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12"/>
          <p:cNvSpPr/>
          <p:nvPr/>
        </p:nvSpPr>
        <p:spPr>
          <a:xfrm>
            <a:off x="84582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2"/>
          <p:cNvSpPr/>
          <p:nvPr/>
        </p:nvSpPr>
        <p:spPr>
          <a:xfrm>
            <a:off x="918972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12"/>
          <p:cNvSpPr/>
          <p:nvPr/>
        </p:nvSpPr>
        <p:spPr>
          <a:xfrm>
            <a:off x="992124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2"/>
          <p:cNvSpPr/>
          <p:nvPr/>
        </p:nvSpPr>
        <p:spPr>
          <a:xfrm>
            <a:off x="1065276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2"/>
          <p:cNvSpPr/>
          <p:nvPr/>
        </p:nvSpPr>
        <p:spPr>
          <a:xfrm>
            <a:off x="1138428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2"/>
          <p:cNvSpPr/>
          <p:nvPr/>
        </p:nvSpPr>
        <p:spPr>
          <a:xfrm>
            <a:off x="12115800" y="0"/>
            <a:ext cx="7315" cy="6858000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12"/>
          <p:cNvSpPr/>
          <p:nvPr/>
        </p:nvSpPr>
        <p:spPr>
          <a:xfrm>
            <a:off x="0" y="3200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2"/>
          <p:cNvSpPr/>
          <p:nvPr/>
        </p:nvSpPr>
        <p:spPr>
          <a:xfrm>
            <a:off x="0" y="9144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12"/>
          <p:cNvSpPr/>
          <p:nvPr/>
        </p:nvSpPr>
        <p:spPr>
          <a:xfrm>
            <a:off x="0" y="150876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2"/>
          <p:cNvSpPr/>
          <p:nvPr/>
        </p:nvSpPr>
        <p:spPr>
          <a:xfrm>
            <a:off x="0" y="21031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2"/>
          <p:cNvSpPr/>
          <p:nvPr/>
        </p:nvSpPr>
        <p:spPr>
          <a:xfrm>
            <a:off x="0" y="26974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2"/>
          <p:cNvSpPr/>
          <p:nvPr/>
        </p:nvSpPr>
        <p:spPr>
          <a:xfrm>
            <a:off x="0" y="32918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2"/>
          <p:cNvSpPr/>
          <p:nvPr/>
        </p:nvSpPr>
        <p:spPr>
          <a:xfrm>
            <a:off x="0" y="38862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2"/>
          <p:cNvSpPr/>
          <p:nvPr/>
        </p:nvSpPr>
        <p:spPr>
          <a:xfrm>
            <a:off x="0" y="507492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2"/>
          <p:cNvSpPr/>
          <p:nvPr/>
        </p:nvSpPr>
        <p:spPr>
          <a:xfrm>
            <a:off x="0" y="566928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12"/>
          <p:cNvSpPr/>
          <p:nvPr/>
        </p:nvSpPr>
        <p:spPr>
          <a:xfrm>
            <a:off x="0" y="626364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2"/>
          <p:cNvSpPr/>
          <p:nvPr/>
        </p:nvSpPr>
        <p:spPr>
          <a:xfrm>
            <a:off x="0" y="6858000"/>
            <a:ext cx="12191695" cy="7315"/>
          </a:xfrm>
          <a:prstGeom prst="rect">
            <a:avLst/>
          </a:prstGeom>
          <a:solidFill>
            <a:srgbClr val="0E233A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2"/>
          <p:cNvSpPr txBox="1"/>
          <p:nvPr/>
        </p:nvSpPr>
        <p:spPr>
          <a:xfrm>
            <a:off x="685800" y="640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PROJETO</a:t>
            </a:r>
            <a:endParaRPr/>
          </a:p>
        </p:txBody>
      </p:sp>
      <p:sp>
        <p:nvSpPr>
          <p:cNvPr id="720" name="Google Shape;720;p12"/>
          <p:cNvSpPr txBox="1"/>
          <p:nvPr/>
        </p:nvSpPr>
        <p:spPr>
          <a:xfrm>
            <a:off x="685800" y="1051560"/>
            <a:ext cx="6858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i="0" u="none" strike="noStrike" cap="none">
                <a:solidFill>
                  <a:srgbClr val="F8FAFC"/>
                </a:solidFill>
                <a:latin typeface="Play"/>
                <a:ea typeface="Play"/>
                <a:cs typeface="Play"/>
                <a:sym typeface="Play"/>
              </a:rPr>
              <a:t>Robô Sorteador de Cores</a:t>
            </a:r>
            <a:endParaRPr/>
          </a:p>
        </p:txBody>
      </p:sp>
      <p:sp>
        <p:nvSpPr>
          <p:cNvPr id="721" name="Google Shape;721;p12"/>
          <p:cNvSpPr/>
          <p:nvPr/>
        </p:nvSpPr>
        <p:spPr>
          <a:xfrm>
            <a:off x="628650" y="2011680"/>
            <a:ext cx="5906683" cy="45720"/>
          </a:xfrm>
          <a:prstGeom prst="rect">
            <a:avLst/>
          </a:prstGeom>
          <a:solidFill>
            <a:srgbClr val="2AC3DE"/>
          </a:solidFill>
          <a:ln w="9525" cap="flat" cmpd="sng">
            <a:solidFill>
              <a:srgbClr val="2AC3DE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2"/>
          <p:cNvSpPr txBox="1"/>
          <p:nvPr/>
        </p:nvSpPr>
        <p:spPr>
          <a:xfrm>
            <a:off x="777240" y="2514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723" name="Google Shape;723;p12"/>
          <p:cNvSpPr txBox="1"/>
          <p:nvPr/>
        </p:nvSpPr>
        <p:spPr>
          <a:xfrm>
            <a:off x="777240" y="2926080"/>
            <a:ext cx="62179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github.com/devbiel12/projeto_esteira_ev3</a:t>
            </a:r>
            <a:endParaRPr dirty="0"/>
          </a:p>
        </p:txBody>
      </p:sp>
      <p:sp>
        <p:nvSpPr>
          <p:cNvPr id="724" name="Google Shape;724;p12"/>
          <p:cNvSpPr txBox="1"/>
          <p:nvPr/>
        </p:nvSpPr>
        <p:spPr>
          <a:xfrm>
            <a:off x="777240" y="340156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Branch analisada: Richard</a:t>
            </a:r>
            <a:endParaRPr/>
          </a:p>
        </p:txBody>
      </p:sp>
      <p:sp>
        <p:nvSpPr>
          <p:cNvPr id="725" name="Google Shape;725;p12"/>
          <p:cNvSpPr txBox="1"/>
          <p:nvPr/>
        </p:nvSpPr>
        <p:spPr>
          <a:xfrm>
            <a:off x="777240" y="41605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Vídeo do protótipo</a:t>
            </a:r>
            <a:endParaRPr/>
          </a:p>
        </p:txBody>
      </p:sp>
      <p:sp>
        <p:nvSpPr>
          <p:cNvPr id="726" name="Google Shape;726;p12"/>
          <p:cNvSpPr txBox="1"/>
          <p:nvPr/>
        </p:nvSpPr>
        <p:spPr>
          <a:xfrm>
            <a:off x="777240" y="4572000"/>
            <a:ext cx="502920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Vídeo</a:t>
            </a:r>
            <a:r>
              <a:rPr lang="en-US" sz="2000" b="0" i="0" u="none" strike="noStrike" cap="none" dirty="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 Color Sorter</a:t>
            </a:r>
            <a:endParaRPr dirty="0"/>
          </a:p>
        </p:txBody>
      </p:sp>
      <p:sp>
        <p:nvSpPr>
          <p:cNvPr id="728" name="Google Shape;728;p12"/>
          <p:cNvSpPr txBox="1"/>
          <p:nvPr/>
        </p:nvSpPr>
        <p:spPr>
          <a:xfrm>
            <a:off x="7726679" y="3429000"/>
            <a:ext cx="310896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091626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br>
              <a:rPr lang="en-US" sz="2800" b="1" i="0" u="none" strike="noStrike" cap="none">
                <a:solidFill>
                  <a:srgbClr val="09162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800" b="1" i="0" u="none" strike="noStrike" cap="none">
                <a:solidFill>
                  <a:srgbClr val="091626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/>
          </a:p>
        </p:txBody>
      </p:sp>
      <p:sp>
        <p:nvSpPr>
          <p:cNvPr id="729" name="Google Shape;729;p12"/>
          <p:cNvSpPr txBox="1"/>
          <p:nvPr/>
        </p:nvSpPr>
        <p:spPr>
          <a:xfrm>
            <a:off x="685800" y="5806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>
                <a:solidFill>
                  <a:srgbClr val="2AC3DE"/>
                </a:solidFill>
                <a:latin typeface="Arial"/>
                <a:ea typeface="Arial"/>
                <a:cs typeface="Arial"/>
                <a:sym typeface="Arial"/>
              </a:rPr>
              <a:t>Obrigado.</a:t>
            </a:r>
            <a:endParaRPr/>
          </a:p>
        </p:txBody>
      </p:sp>
      <p:sp>
        <p:nvSpPr>
          <p:cNvPr id="730" name="Google Shape;730;p12"/>
          <p:cNvSpPr txBox="1"/>
          <p:nvPr/>
        </p:nvSpPr>
        <p:spPr>
          <a:xfrm>
            <a:off x="640080" y="6510528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CIÊNCIA DA COMPUTAÇÃO • LEGO MINDSTORMS EV3</a:t>
            </a:r>
            <a:endParaRPr/>
          </a:p>
        </p:txBody>
      </p:sp>
      <p:sp>
        <p:nvSpPr>
          <p:cNvPr id="731" name="Google Shape;731;p12"/>
          <p:cNvSpPr txBox="1"/>
          <p:nvPr/>
        </p:nvSpPr>
        <p:spPr>
          <a:xfrm>
            <a:off x="8412480" y="6510528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rgbClr val="AEBECD"/>
                </a:solidFill>
                <a:latin typeface="Arial"/>
                <a:ea typeface="Arial"/>
                <a:cs typeface="Arial"/>
                <a:sym typeface="Arial"/>
              </a:rPr>
              <a:t>ROBÔ SORTEADOR DE CORES</a:t>
            </a:r>
            <a:endParaRPr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911FCE4-EB67-4A1D-9903-B3D0CF70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7420" y="390960"/>
            <a:ext cx="4335930" cy="578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871</Words>
  <Application>Microsoft Office PowerPoint</Application>
  <PresentationFormat>Widescreen</PresentationFormat>
  <Paragraphs>189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Play</vt:lpstr>
      <vt:lpstr>Arial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Richard Bernardino</dc:creator>
  <cp:lastModifiedBy>Guilherme Lima</cp:lastModifiedBy>
  <cp:revision>4</cp:revision>
  <dcterms:created xsi:type="dcterms:W3CDTF">2013-01-27T09:14:16Z</dcterms:created>
  <dcterms:modified xsi:type="dcterms:W3CDTF">2026-09-18T13:03:32Z</dcterms:modified>
</cp:coreProperties>
</file>