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kl7xTG2cu4dRj1YNRHmKY9ULY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33A"/>
    <a:srgbClr val="09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3700" b="1">
              <a:solidFill>
                <a:srgbClr val="F8FAFC"/>
              </a:solidFill>
              <a:latin typeface="Play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85800" y="502920"/>
            <a:ext cx="1143000" cy="347472"/>
          </a:xfrm>
          <a:prstGeom prst="roundRect">
            <a:avLst>
              <a:gd name="adj" fmla="val 16667"/>
            </a:avLst>
          </a:prstGeom>
          <a:solidFill>
            <a:srgbClr val="2B70C4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685800" y="53035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1938528" y="502920"/>
            <a:ext cx="1325880" cy="347472"/>
          </a:xfrm>
          <a:prstGeom prst="roundRect">
            <a:avLst>
              <a:gd name="adj" fmla="val 16667"/>
            </a:avLst>
          </a:prstGeom>
          <a:solidFill>
            <a:srgbClr val="27A664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938528" y="53035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3383280" y="502920"/>
            <a:ext cx="1554480" cy="347472"/>
          </a:xfrm>
          <a:prstGeom prst="roundRect">
            <a:avLst>
              <a:gd name="adj" fmla="val 16667"/>
            </a:avLst>
          </a:prstGeom>
          <a:solidFill>
            <a:srgbClr val="DA2D2D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3383280" y="53035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IA • EVOLUÇÃO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685800" y="1234440"/>
            <a:ext cx="557784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ROBÔ</a:t>
            </a:r>
            <a:b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SORTEADOR</a:t>
            </a:r>
            <a:b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 CORES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713232" y="340156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LEGO MINDSTORMS EV3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713232" y="39319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Da leitura do sensor à decisão e ao movimento físico.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6528810" y="1123795"/>
            <a:ext cx="4800600" cy="43434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13232" y="614476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Professor Gustavo Molina Figueiredo</a:t>
            </a:r>
            <a:endParaRPr dirty="0"/>
          </a:p>
        </p:txBody>
      </p:sp>
      <p:sp>
        <p:nvSpPr>
          <p:cNvPr id="143" name="Google Shape;143;p1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D66DB4-6A53-38E5-29F6-30D71AB65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96471" l="4110" r="94178">
                        <a14:foregroundMark x1="17466" y1="52941" x2="17466" y2="52941"/>
                        <a14:foregroundMark x1="25000" y1="68627" x2="25000" y2="68627"/>
                        <a14:foregroundMark x1="26370" y1="69804" x2="26370" y2="69804"/>
                        <a14:foregroundMark x1="27055" y1="95294" x2="27055" y2="95294"/>
                        <a14:foregroundMark x1="20890" y1="90980" x2="20890" y2="90980"/>
                        <a14:foregroundMark x1="13014" y1="87059" x2="13014" y2="87059"/>
                        <a14:foregroundMark x1="6507" y1="82745" x2="6507" y2="82745"/>
                        <a14:foregroundMark x1="4110" y1="83529" x2="4110" y2="83529"/>
                        <a14:foregroundMark x1="15753" y1="80392" x2="15753" y2="80392"/>
                        <a14:foregroundMark x1="22945" y1="84314" x2="22945" y2="84314"/>
                        <a14:foregroundMark x1="36986" y1="93725" x2="36986" y2="93725"/>
                        <a14:foregroundMark x1="93151" y1="73333" x2="93151" y2="73333"/>
                        <a14:foregroundMark x1="91438" y1="72549" x2="91438" y2="72549"/>
                        <a14:foregroundMark x1="31849" y1="86667" x2="31849" y2="86667"/>
                        <a14:foregroundMark x1="73973" y1="90196" x2="73973" y2="90196"/>
                        <a14:foregroundMark x1="73973" y1="92941" x2="73973" y2="92941"/>
                        <a14:foregroundMark x1="76370" y1="92157" x2="76370" y2="92157"/>
                        <a14:foregroundMark x1="85959" y1="87843" x2="85959" y2="87843"/>
                        <a14:foregroundMark x1="86644" y1="82353" x2="86644" y2="82353"/>
                        <a14:foregroundMark x1="87329" y1="89020" x2="87329" y2="89020"/>
                        <a14:foregroundMark x1="86644" y1="92157" x2="86644" y2="92157"/>
                        <a14:foregroundMark x1="87671" y1="81961" x2="87671" y2="81961"/>
                        <a14:foregroundMark x1="87671" y1="79608" x2="87671" y2="79608"/>
                        <a14:foregroundMark x1="73288" y1="95294" x2="73288" y2="95294"/>
                        <a14:foregroundMark x1="73973" y1="96471" x2="73973" y2="96471"/>
                        <a14:foregroundMark x1="75685" y1="83529" x2="75685" y2="83529"/>
                        <a14:foregroundMark x1="75342" y1="90588" x2="75342" y2="90588"/>
                        <a14:foregroundMark x1="94178" y1="73725" x2="94178" y2="73725"/>
                        <a14:foregroundMark x1="33219" y1="87843" x2="33219" y2="87843"/>
                        <a14:backgroundMark x1="22945" y1="87059" x2="22945" y2="87059"/>
                        <a14:backgroundMark x1="41438" y1="87451" x2="41438" y2="87451"/>
                        <a14:backgroundMark x1="62671" y1="87451" x2="62671" y2="87451"/>
                        <a14:backgroundMark x1="52055" y1="87843" x2="52055" y2="87843"/>
                        <a14:backgroundMark x1="81849" y1="87451" x2="81849" y2="87451"/>
                        <a14:backgroundMark x1="77055" y1="93333" x2="77055" y2="93333"/>
                        <a14:backgroundMark x1="76370" y1="92549" x2="76370" y2="92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9619" y="837977"/>
            <a:ext cx="4848052" cy="42985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  <a:endParaRPr/>
          </a:p>
        </p:txBody>
      </p:sp>
      <p:sp>
        <p:nvSpPr>
          <p:cNvPr id="521" name="Google Shape;521;p8"/>
          <p:cNvSpPr txBox="1"/>
          <p:nvPr/>
        </p:nvSpPr>
        <p:spPr>
          <a:xfrm>
            <a:off x="640080" y="713232"/>
            <a:ext cx="106070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Nomes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e RA de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cada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integrante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do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grupo</a:t>
            </a:r>
            <a:endParaRPr dirty="0"/>
          </a:p>
        </p:txBody>
      </p:sp>
      <p:sp>
        <p:nvSpPr>
          <p:cNvPr id="522" name="Google Shape;522;p8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 txBox="1"/>
          <p:nvPr/>
        </p:nvSpPr>
        <p:spPr>
          <a:xfrm>
            <a:off x="11064240" y="438912"/>
            <a:ext cx="5029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dirty="0"/>
          </a:p>
        </p:txBody>
      </p:sp>
      <p:sp>
        <p:nvSpPr>
          <p:cNvPr id="524" name="Google Shape;524;p8"/>
          <p:cNvSpPr/>
          <p:nvPr/>
        </p:nvSpPr>
        <p:spPr>
          <a:xfrm>
            <a:off x="777240" y="169164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Richard Bernardino</a:t>
            </a:r>
            <a:endParaRPr/>
          </a:p>
        </p:txBody>
      </p:sp>
      <p:sp>
        <p:nvSpPr>
          <p:cNvPr id="526" name="Google Shape;526;p8"/>
          <p:cNvSpPr txBox="1"/>
          <p:nvPr/>
        </p:nvSpPr>
        <p:spPr>
          <a:xfrm>
            <a:off x="3063240" y="185623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</a:t>
            </a:r>
            <a:endParaRPr dirty="0"/>
          </a:p>
        </p:txBody>
      </p:sp>
      <p:sp>
        <p:nvSpPr>
          <p:cNvPr id="527" name="Google Shape;527;p8"/>
          <p:cNvSpPr/>
          <p:nvPr/>
        </p:nvSpPr>
        <p:spPr>
          <a:xfrm>
            <a:off x="777240" y="269748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 txBox="1"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Gabriel Araújo</a:t>
            </a:r>
            <a:endParaRPr/>
          </a:p>
        </p:txBody>
      </p:sp>
      <p:sp>
        <p:nvSpPr>
          <p:cNvPr id="529" name="Google Shape;529;p8"/>
          <p:cNvSpPr txBox="1"/>
          <p:nvPr/>
        </p:nvSpPr>
        <p:spPr>
          <a:xfrm>
            <a:off x="3063240" y="286207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700" dirty="0">
                <a:solidFill>
                  <a:srgbClr val="F8FAFC"/>
                </a:solidFill>
              </a:rPr>
              <a:t>A</a:t>
            </a: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</p:txBody>
      </p:sp>
      <p:sp>
        <p:nvSpPr>
          <p:cNvPr id="530" name="Google Shape;530;p8"/>
          <p:cNvSpPr/>
          <p:nvPr/>
        </p:nvSpPr>
        <p:spPr>
          <a:xfrm>
            <a:off x="777240" y="370332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109728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Guilherme Amorim</a:t>
            </a:r>
            <a:endParaRPr/>
          </a:p>
        </p:txBody>
      </p:sp>
      <p:sp>
        <p:nvSpPr>
          <p:cNvPr id="532" name="Google Shape;532;p8"/>
          <p:cNvSpPr txBox="1"/>
          <p:nvPr/>
        </p:nvSpPr>
        <p:spPr>
          <a:xfrm>
            <a:off x="3063240" y="386791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 </a:t>
            </a:r>
            <a:endParaRPr dirty="0"/>
          </a:p>
        </p:txBody>
      </p:sp>
      <p:sp>
        <p:nvSpPr>
          <p:cNvPr id="533" name="Google Shape;533;p8"/>
          <p:cNvSpPr/>
          <p:nvPr/>
        </p:nvSpPr>
        <p:spPr>
          <a:xfrm>
            <a:off x="777240" y="470916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109728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Matheus Deziderio</a:t>
            </a:r>
            <a:endParaRPr/>
          </a:p>
        </p:txBody>
      </p:sp>
      <p:sp>
        <p:nvSpPr>
          <p:cNvPr id="535" name="Google Shape;535;p8"/>
          <p:cNvSpPr txBox="1"/>
          <p:nvPr/>
        </p:nvSpPr>
        <p:spPr>
          <a:xfrm>
            <a:off x="3063240" y="487375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 </a:t>
            </a:r>
            <a:endParaRPr dirty="0"/>
          </a:p>
        </p:txBody>
      </p:sp>
      <p:sp>
        <p:nvSpPr>
          <p:cNvPr id="536" name="Google Shape;536;p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37" name="Google Shape;537;p8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VISÃO DO PROJETO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640080" y="713232"/>
            <a:ext cx="106070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o protótipo propõe e contexto</a:t>
            </a:r>
            <a:endParaRPr lang="pt-BR" sz="2800" dirty="0"/>
          </a:p>
        </p:txBody>
      </p:sp>
      <p:sp>
        <p:nvSpPr>
          <p:cNvPr id="180" name="Google Shape;180;p2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685800" y="1664208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protótipo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simula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industrial: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direcioná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-la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destino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correto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83" name="Google Shape;183;p2"/>
          <p:cNvSpPr/>
          <p:nvPr/>
        </p:nvSpPr>
        <p:spPr>
          <a:xfrm>
            <a:off x="749808" y="2788920"/>
            <a:ext cx="640080" cy="640080"/>
          </a:xfrm>
          <a:prstGeom prst="ellipse">
            <a:avLst/>
          </a:prstGeom>
          <a:solidFill>
            <a:srgbClr val="2B70C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749808" y="2898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1572768" y="280720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1572768" y="3081527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 colorida apresentada ao sensor</a:t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749808" y="3749039"/>
            <a:ext cx="640080" cy="640080"/>
          </a:xfrm>
          <a:prstGeom prst="ellipse">
            <a:avLst/>
          </a:prstGeom>
          <a:solidFill>
            <a:srgbClr val="2AC3D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"/>
          <p:cNvSpPr txBox="1"/>
          <p:nvPr/>
        </p:nvSpPr>
        <p:spPr>
          <a:xfrm>
            <a:off x="749808" y="385876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1572768" y="3767327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/>
          </a:p>
        </p:txBody>
      </p:sp>
      <p:sp>
        <p:nvSpPr>
          <p:cNvPr id="190" name="Google Shape;190;p2"/>
          <p:cNvSpPr txBox="1"/>
          <p:nvPr/>
        </p:nvSpPr>
        <p:spPr>
          <a:xfrm>
            <a:off x="1572768" y="40416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 e interpretação da cor</a:t>
            </a:r>
            <a:endParaRPr/>
          </a:p>
        </p:txBody>
      </p:sp>
      <p:sp>
        <p:nvSpPr>
          <p:cNvPr id="191" name="Google Shape;191;p2"/>
          <p:cNvSpPr/>
          <p:nvPr/>
        </p:nvSpPr>
        <p:spPr>
          <a:xfrm>
            <a:off x="749808" y="4709160"/>
            <a:ext cx="640080" cy="640080"/>
          </a:xfrm>
          <a:prstGeom prst="ellipse">
            <a:avLst/>
          </a:prstGeom>
          <a:solidFill>
            <a:srgbClr val="27A66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749808" y="48188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1572768" y="472744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1572768" y="500176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Esteira posiciona e o alimentador ejeta</a:t>
            </a:r>
            <a:endParaRPr/>
          </a:p>
        </p:txBody>
      </p:sp>
      <p:sp>
        <p:nvSpPr>
          <p:cNvPr id="195" name="Google Shape;195;p2"/>
          <p:cNvSpPr/>
          <p:nvPr/>
        </p:nvSpPr>
        <p:spPr>
          <a:xfrm>
            <a:off x="6629400" y="1664208"/>
            <a:ext cx="4754880" cy="42519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ECF3F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7059168" y="2084831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OBJETIVO PRINCIPAL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7059168" y="2487168"/>
            <a:ext cx="36576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Identificar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cores e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distribuir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as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peças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corretamente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7059168" y="3703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Valor demonstrado</a:t>
            </a:r>
            <a:endParaRPr/>
          </a:p>
        </p:txBody>
      </p:sp>
      <p:sp>
        <p:nvSpPr>
          <p:cNvPr id="199" name="Google Shape;199;p2"/>
          <p:cNvSpPr txBox="1"/>
          <p:nvPr/>
        </p:nvSpPr>
        <p:spPr>
          <a:xfrm>
            <a:off x="7059168" y="4050791"/>
            <a:ext cx="361188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validações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separação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reduzindo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necessidade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manual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/>
          </a:p>
        </p:txBody>
      </p:sp>
      <p:sp>
        <p:nvSpPr>
          <p:cNvPr id="236" name="Google Shape;236;p3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Hardware + software trabalhando juntos</a:t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85800" y="1737360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"/>
          <p:cNvSpPr txBox="1"/>
          <p:nvPr/>
        </p:nvSpPr>
        <p:spPr>
          <a:xfrm>
            <a:off x="960120" y="2167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sp>
        <p:nvSpPr>
          <p:cNvPr id="242" name="Google Shape;242;p3"/>
          <p:cNvSpPr txBox="1"/>
          <p:nvPr/>
        </p:nvSpPr>
        <p:spPr>
          <a:xfrm>
            <a:off x="1783080" y="19659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DE COR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1783080" y="23500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Lê vermelho, verde, azul e amarelo</a:t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6309360" y="1737360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"/>
          <p:cNvSpPr txBox="1"/>
          <p:nvPr/>
        </p:nvSpPr>
        <p:spPr>
          <a:xfrm>
            <a:off x="6583680" y="2167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247" name="Google Shape;247;p3"/>
          <p:cNvSpPr txBox="1"/>
          <p:nvPr/>
        </p:nvSpPr>
        <p:spPr>
          <a:xfrm>
            <a:off x="7406640" y="19659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DE TOQUE</a:t>
            </a:r>
            <a:endParaRPr/>
          </a:p>
        </p:txBody>
      </p:sp>
      <p:sp>
        <p:nvSpPr>
          <p:cNvPr id="248" name="Google Shape;248;p3"/>
          <p:cNvSpPr txBox="1"/>
          <p:nvPr/>
        </p:nvSpPr>
        <p:spPr>
          <a:xfrm>
            <a:off x="7406640" y="23500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Referência para zerar a esteira</a:t>
            </a:r>
            <a:endParaRPr/>
          </a:p>
        </p:txBody>
      </p:sp>
      <p:sp>
        <p:nvSpPr>
          <p:cNvPr id="249" name="Google Shape;249;p3"/>
          <p:cNvSpPr/>
          <p:nvPr/>
        </p:nvSpPr>
        <p:spPr>
          <a:xfrm>
            <a:off x="685800" y="3611879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"/>
          <p:cNvSpPr txBox="1"/>
          <p:nvPr/>
        </p:nvSpPr>
        <p:spPr>
          <a:xfrm>
            <a:off x="960120" y="4041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1783080" y="3840479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MOTOR DA ESTEIRA</a:t>
            </a:r>
            <a:endParaRPr/>
          </a:p>
        </p:txBody>
      </p:sp>
      <p:sp>
        <p:nvSpPr>
          <p:cNvPr id="253" name="Google Shape;253;p3"/>
          <p:cNvSpPr txBox="1"/>
          <p:nvPr/>
        </p:nvSpPr>
        <p:spPr>
          <a:xfrm>
            <a:off x="1783080" y="42245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Move para a posição de cada cor</a:t>
            </a:r>
            <a:endParaRPr/>
          </a:p>
        </p:txBody>
      </p:sp>
      <p:sp>
        <p:nvSpPr>
          <p:cNvPr id="254" name="Google Shape;254;p3"/>
          <p:cNvSpPr/>
          <p:nvPr/>
        </p:nvSpPr>
        <p:spPr>
          <a:xfrm>
            <a:off x="6309360" y="3611879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 txBox="1"/>
          <p:nvPr/>
        </p:nvSpPr>
        <p:spPr>
          <a:xfrm>
            <a:off x="6583680" y="4041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57" name="Google Shape;257;p3"/>
          <p:cNvSpPr txBox="1"/>
          <p:nvPr/>
        </p:nvSpPr>
        <p:spPr>
          <a:xfrm>
            <a:off x="7406640" y="3840479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MOTOR ALIMENTADOR</a:t>
            </a:r>
            <a:endParaRPr/>
          </a:p>
        </p:txBody>
      </p:sp>
      <p:sp>
        <p:nvSpPr>
          <p:cNvPr id="258" name="Google Shape;258;p3"/>
          <p:cNvSpPr txBox="1"/>
          <p:nvPr/>
        </p:nvSpPr>
        <p:spPr>
          <a:xfrm>
            <a:off x="7406640" y="42245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Ejeta a peça e retorna à posição inicial</a:t>
            </a:r>
            <a:endParaRPr/>
          </a:p>
        </p:txBody>
      </p:sp>
      <p:sp>
        <p:nvSpPr>
          <p:cNvPr id="259" name="Google Shape;259;p3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PYTHON • LEGO EV3 MICROPYTHON • PYBRICKS</a:t>
            </a:r>
            <a:endParaRPr/>
          </a:p>
        </p:txBody>
      </p:sp>
      <p:sp>
        <p:nvSpPr>
          <p:cNvPr id="260" name="Google Shape;260;p3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261" name="Google Shape;261;p3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A6A3BE-F771-05CF-7C11-0BD6768F1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9322" y1="30909" x2="59322" y2="309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06" y="1954083"/>
            <a:ext cx="1009338" cy="94090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B30183-1F42-8B24-48C6-91D8F34D9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2264" y1="29114" x2="62264" y2="291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1390" y="1947079"/>
            <a:ext cx="1009791" cy="7525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8C59C6E-6558-1001-86AF-0ACCAEB8A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49" b="92105" l="9459" r="89865">
                        <a14:foregroundMark x1="68243" y1="28070" x2="68243" y2="28070"/>
                        <a14:foregroundMark x1="33108" y1="92105" x2="33108" y2="921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572" y="3718256"/>
            <a:ext cx="1409897" cy="10860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506F97A-D78B-896D-C3D3-89293545E1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989" b="89888" l="8989" r="92135">
                        <a14:foregroundMark x1="25843" y1="22472" x2="25843" y2="22472"/>
                        <a14:foregroundMark x1="34831" y1="20225" x2="34831" y2="20225"/>
                        <a14:foregroundMark x1="41573" y1="16854" x2="41573" y2="16854"/>
                        <a14:foregroundMark x1="50562" y1="19101" x2="50562" y2="19101"/>
                        <a14:foregroundMark x1="61798" y1="24719" x2="61798" y2="24719"/>
                        <a14:foregroundMark x1="37079" y1="11236" x2="37079" y2="11236"/>
                        <a14:foregroundMark x1="48315" y1="13483" x2="48315" y2="13483"/>
                        <a14:foregroundMark x1="44944" y1="8989" x2="44944" y2="8989"/>
                        <a14:foregroundMark x1="89888" y1="58427" x2="89888" y2="58427"/>
                        <a14:foregroundMark x1="75281" y1="75281" x2="75281" y2="75281"/>
                        <a14:foregroundMark x1="86517" y1="75281" x2="86517" y2="75281"/>
                        <a14:foregroundMark x1="92135" y1="64045" x2="92135" y2="64045"/>
                        <a14:foregroundMark x1="92135" y1="61798" x2="92135" y2="61798"/>
                        <a14:foregroundMark x1="88764" y1="50562" x2="88764" y2="50562"/>
                        <a14:foregroundMark x1="88764" y1="50562" x2="88764" y2="505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1906" y="3868632"/>
            <a:ext cx="847843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LÓGICA INTELIGENTE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Como o código aumenta a confiabilidade</a:t>
            </a:r>
            <a:endParaRPr/>
          </a:p>
        </p:txBody>
      </p:sp>
      <p:sp>
        <p:nvSpPr>
          <p:cNvPr id="297" name="Google Shape;297;p4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685800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"/>
          <p:cNvSpPr txBox="1"/>
          <p:nvPr/>
        </p:nvSpPr>
        <p:spPr>
          <a:xfrm>
            <a:off x="868680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AC3DE"/>
                </a:solidFill>
                <a:latin typeface="Play"/>
                <a:ea typeface="Play"/>
                <a:cs typeface="Play"/>
                <a:sym typeface="Play"/>
              </a:rPr>
              <a:t>3×</a:t>
            </a:r>
            <a:endParaRPr/>
          </a:p>
        </p:txBody>
      </p:sp>
      <p:sp>
        <p:nvSpPr>
          <p:cNvPr id="301" name="Google Shape;301;p4"/>
          <p:cNvSpPr txBox="1"/>
          <p:nvPr/>
        </p:nvSpPr>
        <p:spPr>
          <a:xfrm>
            <a:off x="914400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Leituras consecutivas</a:t>
            </a:r>
            <a:endParaRPr/>
          </a:p>
        </p:txBody>
      </p:sp>
      <p:sp>
        <p:nvSpPr>
          <p:cNvPr id="302" name="Google Shape;302;p4"/>
          <p:cNvSpPr txBox="1"/>
          <p:nvPr/>
        </p:nvSpPr>
        <p:spPr>
          <a:xfrm>
            <a:off x="941832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cor é confirmada usando múltiplas amostras.</a:t>
            </a:r>
            <a:endParaRPr/>
          </a:p>
        </p:txBody>
      </p:sp>
      <p:sp>
        <p:nvSpPr>
          <p:cNvPr id="303" name="Google Shape;303;p4"/>
          <p:cNvSpPr/>
          <p:nvPr/>
        </p:nvSpPr>
        <p:spPr>
          <a:xfrm>
            <a:off x="3502152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 txBox="1"/>
          <p:nvPr/>
        </p:nvSpPr>
        <p:spPr>
          <a:xfrm>
            <a:off x="3685032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AC3DE"/>
                </a:solidFill>
                <a:latin typeface="Play"/>
                <a:ea typeface="Play"/>
                <a:cs typeface="Play"/>
                <a:sym typeface="Play"/>
              </a:rPr>
              <a:t>RGB</a:t>
            </a: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3730752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Azul × verde</a:t>
            </a:r>
            <a:endParaRPr/>
          </a:p>
        </p:txBody>
      </p:sp>
      <p:sp>
        <p:nvSpPr>
          <p:cNvPr id="306" name="Google Shape;306;p4"/>
          <p:cNvSpPr txBox="1"/>
          <p:nvPr/>
        </p:nvSpPr>
        <p:spPr>
          <a:xfrm>
            <a:off x="3758184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Compara os canais para reduzir ambiguidades.</a:t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>
            <a:off x="6318504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6501384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/>
          </a:p>
        </p:txBody>
      </p:sp>
      <p:sp>
        <p:nvSpPr>
          <p:cNvPr id="309" name="Google Shape;309;p4"/>
          <p:cNvSpPr txBox="1"/>
          <p:nvPr/>
        </p:nvSpPr>
        <p:spPr>
          <a:xfrm>
            <a:off x="6547104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Peças por ciclo</a:t>
            </a:r>
            <a:endParaRPr/>
          </a:p>
        </p:txBody>
      </p:sp>
      <p:sp>
        <p:nvSpPr>
          <p:cNvPr id="310" name="Google Shape;310;p4"/>
          <p:cNvSpPr txBox="1"/>
          <p:nvPr/>
        </p:nvSpPr>
        <p:spPr>
          <a:xfrm>
            <a:off x="6574536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sequência é armazenada antes da separação.</a:t>
            </a:r>
            <a:endParaRPr/>
          </a:p>
        </p:txBody>
      </p:sp>
      <p:sp>
        <p:nvSpPr>
          <p:cNvPr id="311" name="Google Shape;311;p4"/>
          <p:cNvSpPr/>
          <p:nvPr/>
        </p:nvSpPr>
        <p:spPr>
          <a:xfrm>
            <a:off x="9134856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 txBox="1"/>
          <p:nvPr/>
        </p:nvSpPr>
        <p:spPr>
          <a:xfrm>
            <a:off x="9317736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STOP</a:t>
            </a:r>
            <a:endParaRPr/>
          </a:p>
        </p:txBody>
      </p:sp>
      <p:sp>
        <p:nvSpPr>
          <p:cNvPr id="313" name="Google Shape;313;p4"/>
          <p:cNvSpPr txBox="1"/>
          <p:nvPr/>
        </p:nvSpPr>
        <p:spPr>
          <a:xfrm>
            <a:off x="9363456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Anti-travamento</a:t>
            </a:r>
            <a:endParaRPr/>
          </a:p>
        </p:txBody>
      </p:sp>
      <p:sp>
        <p:nvSpPr>
          <p:cNvPr id="314" name="Google Shape;314;p4"/>
          <p:cNvSpPr txBox="1"/>
          <p:nvPr/>
        </p:nvSpPr>
        <p:spPr>
          <a:xfrm>
            <a:off x="9390888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Timeout e detecção de stall evitam congelamento.</a:t>
            </a:r>
            <a:endParaRPr/>
          </a:p>
        </p:txBody>
      </p:sp>
      <p:sp>
        <p:nvSpPr>
          <p:cNvPr id="315" name="Google Shape;315;p4"/>
          <p:cNvSpPr txBox="1"/>
          <p:nvPr/>
        </p:nvSpPr>
        <p:spPr>
          <a:xfrm>
            <a:off x="868680" y="534924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Não é aprendizado de máquina: é uma lógica determinística de validação e controle. A IA aparece como possibilidade de evolução futura.</a:t>
            </a:r>
            <a:endParaRPr/>
          </a:p>
        </p:txBody>
      </p:sp>
      <p:sp>
        <p:nvSpPr>
          <p:cNvPr id="316" name="Google Shape;316;p4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317" name="Google Shape;317;p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FLUXO OPERACIONAL</a:t>
            </a:r>
            <a:endParaRPr/>
          </a:p>
        </p:txBody>
      </p:sp>
      <p:sp>
        <p:nvSpPr>
          <p:cNvPr id="352" name="Google Shape;352;p5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Do homing à separação</a:t>
            </a:r>
            <a:endParaRPr/>
          </a:p>
        </p:txBody>
      </p:sp>
      <p:sp>
        <p:nvSpPr>
          <p:cNvPr id="353" name="Google Shape;353;p5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1069848" y="1847088"/>
            <a:ext cx="640080" cy="640080"/>
          </a:xfrm>
          <a:prstGeom prst="ellipse">
            <a:avLst/>
          </a:prstGeom>
          <a:solidFill>
            <a:srgbClr val="2B70C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 txBox="1"/>
          <p:nvPr/>
        </p:nvSpPr>
        <p:spPr>
          <a:xfrm>
            <a:off x="106984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57" name="Google Shape;357;p5"/>
          <p:cNvSpPr txBox="1"/>
          <p:nvPr/>
        </p:nvSpPr>
        <p:spPr>
          <a:xfrm>
            <a:off x="502920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CALIBRAR</a:t>
            </a:r>
            <a:endParaRPr/>
          </a:p>
        </p:txBody>
      </p:sp>
      <p:sp>
        <p:nvSpPr>
          <p:cNvPr id="358" name="Google Shape;358;p5"/>
          <p:cNvSpPr txBox="1"/>
          <p:nvPr/>
        </p:nvSpPr>
        <p:spPr>
          <a:xfrm>
            <a:off x="502920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Alimentador e esteira voltam à referência.</a:t>
            </a:r>
            <a:endParaRPr/>
          </a:p>
        </p:txBody>
      </p:sp>
      <p:sp>
        <p:nvSpPr>
          <p:cNvPr id="359" name="Google Shape;359;p5"/>
          <p:cNvSpPr txBox="1"/>
          <p:nvPr/>
        </p:nvSpPr>
        <p:spPr>
          <a:xfrm>
            <a:off x="2359152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60" name="Google Shape;360;p5"/>
          <p:cNvSpPr/>
          <p:nvPr/>
        </p:nvSpPr>
        <p:spPr>
          <a:xfrm>
            <a:off x="3401568" y="1847088"/>
            <a:ext cx="640080" cy="640080"/>
          </a:xfrm>
          <a:prstGeom prst="ellipse">
            <a:avLst/>
          </a:prstGeom>
          <a:solidFill>
            <a:srgbClr val="2AC3D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 txBox="1"/>
          <p:nvPr/>
        </p:nvSpPr>
        <p:spPr>
          <a:xfrm>
            <a:off x="340156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62" name="Google Shape;362;p5"/>
          <p:cNvSpPr txBox="1"/>
          <p:nvPr/>
        </p:nvSpPr>
        <p:spPr>
          <a:xfrm>
            <a:off x="283463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ESCANEAR</a:t>
            </a:r>
            <a:endParaRPr/>
          </a:p>
        </p:txBody>
      </p:sp>
      <p:sp>
        <p:nvSpPr>
          <p:cNvPr id="363" name="Google Shape;363;p5"/>
          <p:cNvSpPr txBox="1"/>
          <p:nvPr/>
        </p:nvSpPr>
        <p:spPr>
          <a:xfrm>
            <a:off x="283463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confirma a cor da peça.</a:t>
            </a:r>
            <a:endParaRPr/>
          </a:p>
        </p:txBody>
      </p:sp>
      <p:sp>
        <p:nvSpPr>
          <p:cNvPr id="364" name="Google Shape;364;p5"/>
          <p:cNvSpPr txBox="1"/>
          <p:nvPr/>
        </p:nvSpPr>
        <p:spPr>
          <a:xfrm>
            <a:off x="4690871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5733288" y="1847088"/>
            <a:ext cx="640080" cy="640080"/>
          </a:xfrm>
          <a:prstGeom prst="ellipse">
            <a:avLst/>
          </a:prstGeom>
          <a:solidFill>
            <a:srgbClr val="F6C32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"/>
          <p:cNvSpPr txBox="1"/>
          <p:nvPr/>
        </p:nvSpPr>
        <p:spPr>
          <a:xfrm>
            <a:off x="573328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7" name="Google Shape;367;p5"/>
          <p:cNvSpPr txBox="1"/>
          <p:nvPr/>
        </p:nvSpPr>
        <p:spPr>
          <a:xfrm>
            <a:off x="516635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/>
          </a:p>
        </p:txBody>
      </p:sp>
      <p:sp>
        <p:nvSpPr>
          <p:cNvPr id="368" name="Google Shape;368;p5"/>
          <p:cNvSpPr txBox="1"/>
          <p:nvPr/>
        </p:nvSpPr>
        <p:spPr>
          <a:xfrm>
            <a:off x="516635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 sequência é salva em memória.</a:t>
            </a:r>
            <a:endParaRPr/>
          </a:p>
        </p:txBody>
      </p:sp>
      <p:sp>
        <p:nvSpPr>
          <p:cNvPr id="369" name="Google Shape;369;p5"/>
          <p:cNvSpPr txBox="1"/>
          <p:nvPr/>
        </p:nvSpPr>
        <p:spPr>
          <a:xfrm>
            <a:off x="7022592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8065007" y="1847088"/>
            <a:ext cx="640080" cy="640080"/>
          </a:xfrm>
          <a:prstGeom prst="ellipse">
            <a:avLst/>
          </a:prstGeom>
          <a:solidFill>
            <a:srgbClr val="27A66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"/>
          <p:cNvSpPr txBox="1"/>
          <p:nvPr/>
        </p:nvSpPr>
        <p:spPr>
          <a:xfrm>
            <a:off x="8065007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72" name="Google Shape;372;p5"/>
          <p:cNvSpPr txBox="1"/>
          <p:nvPr/>
        </p:nvSpPr>
        <p:spPr>
          <a:xfrm>
            <a:off x="749807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POSICIONAR</a:t>
            </a:r>
            <a:endParaRPr/>
          </a:p>
        </p:txBody>
      </p:sp>
      <p:sp>
        <p:nvSpPr>
          <p:cNvPr id="373" name="Google Shape;373;p5"/>
          <p:cNvSpPr txBox="1"/>
          <p:nvPr/>
        </p:nvSpPr>
        <p:spPr>
          <a:xfrm>
            <a:off x="749807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Esteira vai ao compartimento da cor.</a:t>
            </a:r>
            <a:endParaRPr/>
          </a:p>
        </p:txBody>
      </p:sp>
      <p:sp>
        <p:nvSpPr>
          <p:cNvPr id="374" name="Google Shape;374;p5"/>
          <p:cNvSpPr txBox="1"/>
          <p:nvPr/>
        </p:nvSpPr>
        <p:spPr>
          <a:xfrm>
            <a:off x="9354311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10396728" y="1847088"/>
            <a:ext cx="640080" cy="640080"/>
          </a:xfrm>
          <a:prstGeom prst="ellipse">
            <a:avLst/>
          </a:prstGeom>
          <a:solidFill>
            <a:srgbClr val="DA2D2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"/>
          <p:cNvSpPr txBox="1"/>
          <p:nvPr/>
        </p:nvSpPr>
        <p:spPr>
          <a:xfrm>
            <a:off x="1039672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77" name="Google Shape;377;p5"/>
          <p:cNvSpPr txBox="1"/>
          <p:nvPr/>
        </p:nvSpPr>
        <p:spPr>
          <a:xfrm>
            <a:off x="9829800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A2D2D"/>
                </a:solidFill>
                <a:latin typeface="Arial"/>
                <a:ea typeface="Arial"/>
                <a:cs typeface="Arial"/>
                <a:sym typeface="Arial"/>
              </a:rPr>
              <a:t>EJETAR</a:t>
            </a:r>
            <a:endParaRPr/>
          </a:p>
        </p:txBody>
      </p:sp>
      <p:sp>
        <p:nvSpPr>
          <p:cNvPr id="378" name="Google Shape;378;p5"/>
          <p:cNvSpPr txBox="1"/>
          <p:nvPr/>
        </p:nvSpPr>
        <p:spPr>
          <a:xfrm>
            <a:off x="9829800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 é liberada e mecanismo retorna.</a:t>
            </a:r>
            <a:endParaRPr/>
          </a:p>
        </p:txBody>
      </p:sp>
      <p:sp>
        <p:nvSpPr>
          <p:cNvPr id="379" name="Google Shape;379;p5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O botão central permite encerrar a leitura antes de completar 8 peças.</a:t>
            </a:r>
            <a:endParaRPr/>
          </a:p>
        </p:txBody>
      </p:sp>
      <p:sp>
        <p:nvSpPr>
          <p:cNvPr id="380" name="Google Shape;380;p5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381" name="Google Shape;381;p5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6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6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/>
          </a:p>
        </p:txBody>
      </p:sp>
      <p:sp>
        <p:nvSpPr>
          <p:cNvPr id="416" name="Google Shape;416;p6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Cada cor possui uma posição de destino</a:t>
            </a:r>
            <a:endParaRPr/>
          </a:p>
        </p:txBody>
      </p:sp>
      <p:sp>
        <p:nvSpPr>
          <p:cNvPr id="417" name="Google Shape;417;p6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19" name="Google Shape;419;p6"/>
          <p:cNvSpPr/>
          <p:nvPr/>
        </p:nvSpPr>
        <p:spPr>
          <a:xfrm>
            <a:off x="71323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6"/>
          <p:cNvSpPr/>
          <p:nvPr/>
        </p:nvSpPr>
        <p:spPr>
          <a:xfrm>
            <a:off x="142646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0066B3"/>
          </a:solidFill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"/>
          <p:cNvSpPr txBox="1"/>
          <p:nvPr/>
        </p:nvSpPr>
        <p:spPr>
          <a:xfrm>
            <a:off x="89611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89611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66B3"/>
                </a:solidFill>
                <a:latin typeface="Play"/>
                <a:ea typeface="Play"/>
                <a:cs typeface="Play"/>
                <a:sym typeface="Play"/>
              </a:rPr>
              <a:t>120°</a:t>
            </a:r>
            <a:endParaRPr/>
          </a:p>
        </p:txBody>
      </p:sp>
      <p:sp>
        <p:nvSpPr>
          <p:cNvPr id="423" name="Google Shape;423;p6"/>
          <p:cNvSpPr/>
          <p:nvPr/>
        </p:nvSpPr>
        <p:spPr>
          <a:xfrm>
            <a:off x="350215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421538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27A664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 txBox="1"/>
          <p:nvPr/>
        </p:nvSpPr>
        <p:spPr>
          <a:xfrm>
            <a:off x="368503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426" name="Google Shape;426;p6"/>
          <p:cNvSpPr txBox="1"/>
          <p:nvPr/>
        </p:nvSpPr>
        <p:spPr>
          <a:xfrm>
            <a:off x="368503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7A664"/>
                </a:solidFill>
                <a:latin typeface="Play"/>
                <a:ea typeface="Play"/>
                <a:cs typeface="Play"/>
                <a:sym typeface="Play"/>
              </a:rPr>
              <a:t>240°</a:t>
            </a:r>
            <a:endParaRPr/>
          </a:p>
        </p:txBody>
      </p:sp>
      <p:sp>
        <p:nvSpPr>
          <p:cNvPr id="427" name="Google Shape;427;p6"/>
          <p:cNvSpPr/>
          <p:nvPr/>
        </p:nvSpPr>
        <p:spPr>
          <a:xfrm>
            <a:off x="629107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700430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F6C320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 txBox="1"/>
          <p:nvPr/>
        </p:nvSpPr>
        <p:spPr>
          <a:xfrm>
            <a:off x="647395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AMARELO</a:t>
            </a:r>
            <a:endParaRPr/>
          </a:p>
        </p:txBody>
      </p:sp>
      <p:sp>
        <p:nvSpPr>
          <p:cNvPr id="430" name="Google Shape;430;p6"/>
          <p:cNvSpPr txBox="1"/>
          <p:nvPr/>
        </p:nvSpPr>
        <p:spPr>
          <a:xfrm>
            <a:off x="647395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F6C320"/>
                </a:solidFill>
                <a:latin typeface="Play"/>
                <a:ea typeface="Play"/>
                <a:cs typeface="Play"/>
                <a:sym typeface="Play"/>
              </a:rPr>
              <a:t>360°</a:t>
            </a:r>
            <a:endParaRPr/>
          </a:p>
        </p:txBody>
      </p:sp>
      <p:sp>
        <p:nvSpPr>
          <p:cNvPr id="431" name="Google Shape;431;p6"/>
          <p:cNvSpPr/>
          <p:nvPr/>
        </p:nvSpPr>
        <p:spPr>
          <a:xfrm>
            <a:off x="9079991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"/>
          <p:cNvSpPr/>
          <p:nvPr/>
        </p:nvSpPr>
        <p:spPr>
          <a:xfrm>
            <a:off x="9793223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DA2D2D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"/>
          <p:cNvSpPr txBox="1"/>
          <p:nvPr/>
        </p:nvSpPr>
        <p:spPr>
          <a:xfrm>
            <a:off x="9262871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VERMELHO</a:t>
            </a:r>
            <a:endParaRPr/>
          </a:p>
        </p:txBody>
      </p:sp>
      <p:sp>
        <p:nvSpPr>
          <p:cNvPr id="434" name="Google Shape;434;p6"/>
          <p:cNvSpPr txBox="1"/>
          <p:nvPr/>
        </p:nvSpPr>
        <p:spPr>
          <a:xfrm>
            <a:off x="9262871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DA2D2D"/>
                </a:solidFill>
                <a:latin typeface="Play"/>
                <a:ea typeface="Play"/>
                <a:cs typeface="Play"/>
                <a:sym typeface="Play"/>
              </a:rPr>
              <a:t>480°</a:t>
            </a:r>
            <a:endParaRPr/>
          </a:p>
        </p:txBody>
      </p:sp>
      <p:sp>
        <p:nvSpPr>
          <p:cNvPr id="435" name="Google Shape;435;p6"/>
          <p:cNvSpPr txBox="1"/>
          <p:nvPr/>
        </p:nvSpPr>
        <p:spPr>
          <a:xfrm>
            <a:off x="1097280" y="5230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posição angular funciona como o mapa físico entre a decisão do software e o destino real da peça.</a:t>
            </a:r>
            <a:endParaRPr/>
          </a:p>
        </p:txBody>
      </p:sp>
      <p:sp>
        <p:nvSpPr>
          <p:cNvPr id="436" name="Google Shape;436;p6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437" name="Google Shape;437;p6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7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ENGENHARIA</a:t>
            </a:r>
            <a:endParaRPr/>
          </a:p>
        </p:txBody>
      </p:sp>
      <p:sp>
        <p:nvSpPr>
          <p:cNvPr id="472" name="Google Shape;472;p7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Desafios visíveis na implementação</a:t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77724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7"/>
          <p:cNvSpPr txBox="1"/>
          <p:nvPr/>
        </p:nvSpPr>
        <p:spPr>
          <a:xfrm>
            <a:off x="105156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endParaRPr/>
          </a:p>
        </p:txBody>
      </p:sp>
      <p:sp>
        <p:nvSpPr>
          <p:cNvPr id="477" name="Google Shape;477;p7"/>
          <p:cNvSpPr txBox="1"/>
          <p:nvPr/>
        </p:nvSpPr>
        <p:spPr>
          <a:xfrm>
            <a:off x="105156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Evitar uma identificação instável da cor.</a:t>
            </a: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457200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 txBox="1"/>
          <p:nvPr/>
        </p:nvSpPr>
        <p:spPr>
          <a:xfrm>
            <a:off x="484632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A2D2D"/>
                </a:solidFill>
                <a:latin typeface="Arial"/>
                <a:ea typeface="Arial"/>
                <a:cs typeface="Arial"/>
                <a:sym typeface="Arial"/>
              </a:rPr>
              <a:t>MECÂNICA</a:t>
            </a:r>
            <a:endParaRPr/>
          </a:p>
        </p:txBody>
      </p:sp>
      <p:sp>
        <p:nvSpPr>
          <p:cNvPr id="480" name="Google Shape;480;p7"/>
          <p:cNvSpPr txBox="1"/>
          <p:nvPr/>
        </p:nvSpPr>
        <p:spPr>
          <a:xfrm>
            <a:off x="484632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Impedir que o alimentador fique travado.</a:t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>
            <a:off x="836676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"/>
          <p:cNvSpPr txBox="1"/>
          <p:nvPr/>
        </p:nvSpPr>
        <p:spPr>
          <a:xfrm>
            <a:off x="864108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864108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Garantir que a esteira saiba onde está o zero.</a:t>
            </a:r>
            <a:endParaRPr/>
          </a:p>
        </p:txBody>
      </p:sp>
      <p:sp>
        <p:nvSpPr>
          <p:cNvPr id="484" name="Google Shape;484;p7"/>
          <p:cNvSpPr txBox="1"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Importante: o briefing não registra quais problemas foram realmente enfrentados pelo grupo. Estes pontos são evidências técnicas do código e devem ser confirmados oralmente como desafios históricos.</a:t>
            </a:r>
            <a:endParaRPr/>
          </a:p>
        </p:txBody>
      </p:sp>
      <p:sp>
        <p:nvSpPr>
          <p:cNvPr id="485" name="Google Shape;485;p7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APRENDIZADO</a:t>
            </a:r>
            <a:endParaRPr/>
          </a:p>
        </p:txBody>
      </p:sp>
      <p:sp>
        <p:nvSpPr>
          <p:cNvPr id="521" name="Google Shape;521;p8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o projeto conecta na prática</a:t>
            </a:r>
            <a:endParaRPr/>
          </a:p>
        </p:txBody>
      </p:sp>
      <p:sp>
        <p:nvSpPr>
          <p:cNvPr id="522" name="Google Shape;522;p8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524" name="Google Shape;524;p8"/>
          <p:cNvSpPr/>
          <p:nvPr/>
        </p:nvSpPr>
        <p:spPr>
          <a:xfrm>
            <a:off x="777240" y="169164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endParaRPr/>
          </a:p>
        </p:txBody>
      </p:sp>
      <p:sp>
        <p:nvSpPr>
          <p:cNvPr id="526" name="Google Shape;526;p8"/>
          <p:cNvSpPr txBox="1"/>
          <p:nvPr/>
        </p:nvSpPr>
        <p:spPr>
          <a:xfrm>
            <a:off x="3063240" y="185623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Sensores, atuadores e movimento</a:t>
            </a:r>
            <a:endParaRPr/>
          </a:p>
        </p:txBody>
      </p:sp>
      <p:sp>
        <p:nvSpPr>
          <p:cNvPr id="527" name="Google Shape;527;p8"/>
          <p:cNvSpPr/>
          <p:nvPr/>
        </p:nvSpPr>
        <p:spPr>
          <a:xfrm>
            <a:off x="777240" y="269748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 txBox="1"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endParaRPr/>
          </a:p>
        </p:txBody>
      </p:sp>
      <p:sp>
        <p:nvSpPr>
          <p:cNvPr id="529" name="Google Shape;529;p8"/>
          <p:cNvSpPr txBox="1"/>
          <p:nvPr/>
        </p:nvSpPr>
        <p:spPr>
          <a:xfrm>
            <a:off x="3063240" y="286207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Decisão, funções e tratamento de falhas</a:t>
            </a:r>
            <a:endParaRPr/>
          </a:p>
        </p:txBody>
      </p:sp>
      <p:sp>
        <p:nvSpPr>
          <p:cNvPr id="530" name="Google Shape;530;p8"/>
          <p:cNvSpPr/>
          <p:nvPr/>
        </p:nvSpPr>
        <p:spPr>
          <a:xfrm>
            <a:off x="777240" y="370332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109728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endParaRPr/>
          </a:p>
        </p:txBody>
      </p:sp>
      <p:sp>
        <p:nvSpPr>
          <p:cNvPr id="532" name="Google Shape;532;p8"/>
          <p:cNvSpPr txBox="1"/>
          <p:nvPr/>
        </p:nvSpPr>
        <p:spPr>
          <a:xfrm>
            <a:off x="3063240" y="386791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Entrada → processamento → saída</a:t>
            </a:r>
            <a:endParaRPr/>
          </a:p>
        </p:txBody>
      </p:sp>
      <p:sp>
        <p:nvSpPr>
          <p:cNvPr id="533" name="Google Shape;533;p8"/>
          <p:cNvSpPr/>
          <p:nvPr/>
        </p:nvSpPr>
        <p:spPr>
          <a:xfrm>
            <a:off x="777240" y="470916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109728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endParaRPr/>
          </a:p>
        </p:txBody>
      </p:sp>
      <p:sp>
        <p:nvSpPr>
          <p:cNvPr id="535" name="Google Shape;535;p8"/>
          <p:cNvSpPr txBox="1"/>
          <p:nvPr/>
        </p:nvSpPr>
        <p:spPr>
          <a:xfrm>
            <a:off x="3063240" y="487375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Software + estrutura mecânica</a:t>
            </a:r>
            <a:endParaRPr/>
          </a:p>
        </p:txBody>
      </p:sp>
      <p:sp>
        <p:nvSpPr>
          <p:cNvPr id="536" name="Google Shape;536;p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37" name="Google Shape;537;p8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572" name="Google Shape;572;p9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já pode ser demonstrado</a:t>
            </a:r>
            <a:endParaRPr/>
          </a:p>
        </p:txBody>
      </p:sp>
      <p:sp>
        <p:nvSpPr>
          <p:cNvPr id="573" name="Google Shape;573;p9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9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575" name="Google Shape;575;p9"/>
          <p:cNvSpPr/>
          <p:nvPr/>
        </p:nvSpPr>
        <p:spPr>
          <a:xfrm>
            <a:off x="685800" y="1664208"/>
            <a:ext cx="5074920" cy="420624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9"/>
          <p:cNvSpPr txBox="1"/>
          <p:nvPr/>
        </p:nvSpPr>
        <p:spPr>
          <a:xfrm>
            <a:off x="1005840" y="19659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RESULTADO INFORMADO PELO GRUPO</a:t>
            </a:r>
            <a:endParaRPr/>
          </a:p>
        </p:txBody>
      </p:sp>
      <p:sp>
        <p:nvSpPr>
          <p:cNvPr id="577" name="Google Shape;577;p9"/>
          <p:cNvSpPr txBox="1"/>
          <p:nvPr/>
        </p:nvSpPr>
        <p:spPr>
          <a:xfrm>
            <a:off x="1005840" y="242316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protótipo identificou as cores e posicionou as peças corretamente.</a:t>
            </a:r>
            <a:endParaRPr/>
          </a:p>
        </p:txBody>
      </p:sp>
      <p:sp>
        <p:nvSpPr>
          <p:cNvPr id="578" name="Google Shape;578;p9"/>
          <p:cNvSpPr txBox="1"/>
          <p:nvPr/>
        </p:nvSpPr>
        <p:spPr>
          <a:xfrm>
            <a:off x="1005840" y="3703320"/>
            <a:ext cx="42519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O grupo declarou atingir 100% do objetivo proposto. O briefing, porém, não traz tabela de testes ou taxa de acerto medida.</a:t>
            </a:r>
            <a:endParaRPr/>
          </a:p>
        </p:txBody>
      </p:sp>
      <p:sp>
        <p:nvSpPr>
          <p:cNvPr id="579" name="Google Shape;579;p9"/>
          <p:cNvSpPr/>
          <p:nvPr/>
        </p:nvSpPr>
        <p:spPr>
          <a:xfrm>
            <a:off x="6172200" y="1664208"/>
            <a:ext cx="5212080" cy="24688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6172200" y="4343400"/>
            <a:ext cx="5212080" cy="1527048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9"/>
          <p:cNvSpPr txBox="1"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VÍDEO / QR CODE</a:t>
            </a:r>
            <a:endParaRPr/>
          </a:p>
        </p:txBody>
      </p:sp>
      <p:sp>
        <p:nvSpPr>
          <p:cNvPr id="584" name="Google Shape;584;p9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85" name="Google Shape;585;p9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677E4F1-949D-56FE-3BB6-3B29597F1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96471" l="4110" r="94178">
                        <a14:foregroundMark x1="17466" y1="52941" x2="17466" y2="52941"/>
                        <a14:foregroundMark x1="25000" y1="68627" x2="25000" y2="68627"/>
                        <a14:foregroundMark x1="26370" y1="69804" x2="26370" y2="69804"/>
                        <a14:foregroundMark x1="27055" y1="95294" x2="27055" y2="95294"/>
                        <a14:foregroundMark x1="20890" y1="90980" x2="20890" y2="90980"/>
                        <a14:foregroundMark x1="13014" y1="87059" x2="13014" y2="87059"/>
                        <a14:foregroundMark x1="6507" y1="82745" x2="6507" y2="82745"/>
                        <a14:foregroundMark x1="4110" y1="83529" x2="4110" y2="83529"/>
                        <a14:foregroundMark x1="15753" y1="80392" x2="15753" y2="80392"/>
                        <a14:foregroundMark x1="22945" y1="84314" x2="22945" y2="84314"/>
                        <a14:foregroundMark x1="36986" y1="93725" x2="36986" y2="93725"/>
                        <a14:foregroundMark x1="93151" y1="73333" x2="93151" y2="73333"/>
                        <a14:foregroundMark x1="91438" y1="72549" x2="91438" y2="72549"/>
                        <a14:foregroundMark x1="31849" y1="86667" x2="31849" y2="86667"/>
                        <a14:foregroundMark x1="73973" y1="90196" x2="73973" y2="90196"/>
                        <a14:foregroundMark x1="73973" y1="92941" x2="73973" y2="92941"/>
                        <a14:foregroundMark x1="76370" y1="92157" x2="76370" y2="92157"/>
                        <a14:foregroundMark x1="85959" y1="87843" x2="85959" y2="87843"/>
                        <a14:foregroundMark x1="86644" y1="82353" x2="86644" y2="82353"/>
                        <a14:foregroundMark x1="87329" y1="89020" x2="87329" y2="89020"/>
                        <a14:foregroundMark x1="86644" y1="92157" x2="86644" y2="92157"/>
                        <a14:foregroundMark x1="87671" y1="81961" x2="87671" y2="81961"/>
                        <a14:foregroundMark x1="87671" y1="79608" x2="87671" y2="79608"/>
                        <a14:foregroundMark x1="73288" y1="95294" x2="73288" y2="95294"/>
                        <a14:foregroundMark x1="73973" y1="96471" x2="73973" y2="96471"/>
                        <a14:foregroundMark x1="75685" y1="83529" x2="75685" y2="83529"/>
                        <a14:foregroundMark x1="75342" y1="90588" x2="75342" y2="90588"/>
                        <a14:foregroundMark x1="94178" y1="73725" x2="94178" y2="73725"/>
                        <a14:foregroundMark x1="33219" y1="87843" x2="33219" y2="87843"/>
                        <a14:backgroundMark x1="22945" y1="87059" x2="22945" y2="87059"/>
                        <a14:backgroundMark x1="41438" y1="87451" x2="41438" y2="87451"/>
                        <a14:backgroundMark x1="62671" y1="87451" x2="62671" y2="87451"/>
                        <a14:backgroundMark x1="52055" y1="87843" x2="52055" y2="87843"/>
                        <a14:backgroundMark x1="81849" y1="87451" x2="81849" y2="87451"/>
                        <a14:backgroundMark x1="77055" y1="93333" x2="77055" y2="93333"/>
                        <a14:backgroundMark x1="76370" y1="92549" x2="76370" y2="92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71152" y="1343196"/>
            <a:ext cx="3177444" cy="28173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0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0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0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0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0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0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0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0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0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0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0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0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0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0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EVOLUÇÃO</a:t>
            </a:r>
            <a:endParaRPr/>
          </a:p>
        </p:txBody>
      </p:sp>
      <p:sp>
        <p:nvSpPr>
          <p:cNvPr id="620" name="Google Shape;620;p10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Onde a IA pode entrar no futuro</a:t>
            </a:r>
            <a:endParaRPr/>
          </a:p>
        </p:txBody>
      </p:sp>
      <p:sp>
        <p:nvSpPr>
          <p:cNvPr id="621" name="Google Shape;621;p10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0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623" name="Google Shape;623;p10"/>
          <p:cNvSpPr txBox="1"/>
          <p:nvPr/>
        </p:nvSpPr>
        <p:spPr>
          <a:xfrm>
            <a:off x="731520" y="1627632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projeto atual usa regras e sensores. A próxima evolução pode aumentar autonomia e capacidade de decisão.</a:t>
            </a:r>
            <a:endParaRPr/>
          </a:p>
        </p:txBody>
      </p:sp>
      <p:sp>
        <p:nvSpPr>
          <p:cNvPr id="624" name="Google Shape;624;p10"/>
          <p:cNvSpPr/>
          <p:nvPr/>
        </p:nvSpPr>
        <p:spPr>
          <a:xfrm>
            <a:off x="685800" y="242316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"/>
          <p:cNvSpPr txBox="1"/>
          <p:nvPr/>
        </p:nvSpPr>
        <p:spPr>
          <a:xfrm>
            <a:off x="960120" y="263347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VISÃO COMPUTACIONAL</a:t>
            </a:r>
            <a:endParaRPr/>
          </a:p>
        </p:txBody>
      </p:sp>
      <p:sp>
        <p:nvSpPr>
          <p:cNvPr id="626" name="Google Shape;626;p10"/>
          <p:cNvSpPr txBox="1"/>
          <p:nvPr/>
        </p:nvSpPr>
        <p:spPr>
          <a:xfrm>
            <a:off x="3063240" y="262432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Câmera para reconhecer cor, forma ou defeitos.</a:t>
            </a: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6309360" y="242316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0"/>
          <p:cNvSpPr txBox="1"/>
          <p:nvPr/>
        </p:nvSpPr>
        <p:spPr>
          <a:xfrm>
            <a:off x="6583680" y="263347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 dirty="0"/>
          </a:p>
        </p:txBody>
      </p:sp>
      <p:sp>
        <p:nvSpPr>
          <p:cNvPr id="629" name="Google Shape;629;p10"/>
          <p:cNvSpPr txBox="1"/>
          <p:nvPr/>
        </p:nvSpPr>
        <p:spPr>
          <a:xfrm>
            <a:off x="8686800" y="262432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treinado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classificar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padrões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complexos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30" name="Google Shape;630;p10"/>
          <p:cNvSpPr/>
          <p:nvPr/>
        </p:nvSpPr>
        <p:spPr>
          <a:xfrm>
            <a:off x="685800" y="393192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 txBox="1"/>
          <p:nvPr/>
        </p:nvSpPr>
        <p:spPr>
          <a:xfrm>
            <a:off x="960120" y="414223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MAIS SENSORES</a:t>
            </a:r>
            <a:endParaRPr/>
          </a:p>
        </p:txBody>
      </p:sp>
      <p:sp>
        <p:nvSpPr>
          <p:cNvPr id="632" name="Google Shape;632;p10"/>
          <p:cNvSpPr txBox="1"/>
          <p:nvPr/>
        </p:nvSpPr>
        <p:spPr>
          <a:xfrm>
            <a:off x="3063240" y="4133087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Redundância para melhorar precisão e confiabilidade.</a:t>
            </a:r>
            <a:endParaRPr/>
          </a:p>
        </p:txBody>
      </p:sp>
      <p:sp>
        <p:nvSpPr>
          <p:cNvPr id="633" name="Google Shape;633;p10"/>
          <p:cNvSpPr/>
          <p:nvPr/>
        </p:nvSpPr>
        <p:spPr>
          <a:xfrm>
            <a:off x="6309360" y="393192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0"/>
          <p:cNvSpPr txBox="1"/>
          <p:nvPr/>
        </p:nvSpPr>
        <p:spPr>
          <a:xfrm>
            <a:off x="6583680" y="414223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ALIMENTAÇÃO AUTOMÁTICA</a:t>
            </a:r>
            <a:endParaRPr/>
          </a:p>
        </p:txBody>
      </p:sp>
      <p:sp>
        <p:nvSpPr>
          <p:cNvPr id="635" name="Google Shape;635;p10"/>
          <p:cNvSpPr txBox="1"/>
          <p:nvPr/>
        </p:nvSpPr>
        <p:spPr>
          <a:xfrm>
            <a:off x="8686800" y="4133087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Reduzir a dependência do usuário no fluxo.</a:t>
            </a:r>
            <a:endParaRPr/>
          </a:p>
        </p:txBody>
      </p:sp>
      <p:sp>
        <p:nvSpPr>
          <p:cNvPr id="636" name="Google Shape;636;p10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637" name="Google Shape;637;p10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1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1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1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1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1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1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1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1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1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1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1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1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1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1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1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1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1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/>
          </a:p>
        </p:txBody>
      </p:sp>
      <p:sp>
        <p:nvSpPr>
          <p:cNvPr id="672" name="Google Shape;672;p11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Um protótipo simples, mas completo como integração</a:t>
            </a:r>
            <a:endParaRPr/>
          </a:p>
        </p:txBody>
      </p:sp>
      <p:sp>
        <p:nvSpPr>
          <p:cNvPr id="673" name="Google Shape;673;p11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1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675" name="Google Shape;675;p11"/>
          <p:cNvSpPr txBox="1"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SENSOR</a:t>
            </a:r>
            <a:endParaRPr/>
          </a:p>
        </p:txBody>
      </p:sp>
      <p:sp>
        <p:nvSpPr>
          <p:cNvPr id="676" name="Google Shape;676;p11"/>
          <p:cNvSpPr txBox="1"/>
          <p:nvPr/>
        </p:nvSpPr>
        <p:spPr>
          <a:xfrm>
            <a:off x="288036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7" name="Google Shape;677;p11"/>
          <p:cNvSpPr txBox="1"/>
          <p:nvPr/>
        </p:nvSpPr>
        <p:spPr>
          <a:xfrm>
            <a:off x="347472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/>
          </a:p>
        </p:txBody>
      </p:sp>
      <p:sp>
        <p:nvSpPr>
          <p:cNvPr id="678" name="Google Shape;678;p11"/>
          <p:cNvSpPr txBox="1"/>
          <p:nvPr/>
        </p:nvSpPr>
        <p:spPr>
          <a:xfrm>
            <a:off x="544068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9" name="Google Shape;679;p11"/>
          <p:cNvSpPr txBox="1"/>
          <p:nvPr/>
        </p:nvSpPr>
        <p:spPr>
          <a:xfrm>
            <a:off x="6035040" y="1828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MOVIMENTO</a:t>
            </a:r>
            <a:endParaRPr/>
          </a:p>
        </p:txBody>
      </p:sp>
      <p:sp>
        <p:nvSpPr>
          <p:cNvPr id="680" name="Google Shape;680;p11"/>
          <p:cNvSpPr txBox="1"/>
          <p:nvPr/>
        </p:nvSpPr>
        <p:spPr>
          <a:xfrm>
            <a:off x="836676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81" name="Google Shape;681;p11"/>
          <p:cNvSpPr txBox="1"/>
          <p:nvPr/>
        </p:nvSpPr>
        <p:spPr>
          <a:xfrm>
            <a:off x="8961120" y="1828800"/>
            <a:ext cx="2286000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SEPARAÇÃO</a:t>
            </a:r>
            <a:endParaRPr dirty="0"/>
          </a:p>
        </p:txBody>
      </p:sp>
      <p:sp>
        <p:nvSpPr>
          <p:cNvPr id="682" name="Google Shape;682;p11"/>
          <p:cNvSpPr/>
          <p:nvPr/>
        </p:nvSpPr>
        <p:spPr>
          <a:xfrm>
            <a:off x="914400" y="2926080"/>
            <a:ext cx="10287000" cy="19659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1"/>
          <p:cNvSpPr txBox="1"/>
          <p:nvPr/>
        </p:nvSpPr>
        <p:spPr>
          <a:xfrm>
            <a:off x="1325880" y="3383280"/>
            <a:ext cx="94640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Robô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Sorteador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Cores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demonstra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podem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transformar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sensor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física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controlada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 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ainda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depende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de um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único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sensor, mas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já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cria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avançada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84" name="Google Shape;684;p11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685" name="Google Shape;685;p11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2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2"/>
          <p:cNvSpPr txBox="1"/>
          <p:nvPr/>
        </p:nvSpPr>
        <p:spPr>
          <a:xfrm>
            <a:off x="685800" y="640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/>
          </a:p>
        </p:txBody>
      </p:sp>
      <p:sp>
        <p:nvSpPr>
          <p:cNvPr id="720" name="Google Shape;720;p12"/>
          <p:cNvSpPr txBox="1"/>
          <p:nvPr/>
        </p:nvSpPr>
        <p:spPr>
          <a:xfrm>
            <a:off x="685800" y="105156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Robô Sorteador de Cores</a:t>
            </a:r>
            <a:endParaRPr/>
          </a:p>
        </p:txBody>
      </p:sp>
      <p:sp>
        <p:nvSpPr>
          <p:cNvPr id="721" name="Google Shape;721;p12"/>
          <p:cNvSpPr/>
          <p:nvPr/>
        </p:nvSpPr>
        <p:spPr>
          <a:xfrm>
            <a:off x="685800" y="2011680"/>
            <a:ext cx="10789920" cy="45720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2"/>
          <p:cNvSpPr txBox="1"/>
          <p:nvPr/>
        </p:nvSpPr>
        <p:spPr>
          <a:xfrm>
            <a:off x="777240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723" name="Google Shape;723;p12"/>
          <p:cNvSpPr txBox="1"/>
          <p:nvPr/>
        </p:nvSpPr>
        <p:spPr>
          <a:xfrm>
            <a:off x="777240" y="292608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github.com/devbiel12/projeto_esteira_ev3</a:t>
            </a:r>
            <a:endParaRPr/>
          </a:p>
        </p:txBody>
      </p:sp>
      <p:sp>
        <p:nvSpPr>
          <p:cNvPr id="724" name="Google Shape;724;p12"/>
          <p:cNvSpPr txBox="1"/>
          <p:nvPr/>
        </p:nvSpPr>
        <p:spPr>
          <a:xfrm>
            <a:off x="777240" y="34015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Branch analisada: Richard</a:t>
            </a:r>
            <a:endParaRPr/>
          </a:p>
        </p:txBody>
      </p:sp>
      <p:sp>
        <p:nvSpPr>
          <p:cNvPr id="725" name="Google Shape;725;p12"/>
          <p:cNvSpPr txBox="1"/>
          <p:nvPr/>
        </p:nvSpPr>
        <p:spPr>
          <a:xfrm>
            <a:off x="777240" y="41605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Vídeo do protótipo</a:t>
            </a:r>
            <a:endParaRPr/>
          </a:p>
        </p:txBody>
      </p:sp>
      <p:sp>
        <p:nvSpPr>
          <p:cNvPr id="726" name="Google Shape;726;p12"/>
          <p:cNvSpPr txBox="1"/>
          <p:nvPr/>
        </p:nvSpPr>
        <p:spPr>
          <a:xfrm>
            <a:off x="777240" y="45720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[ inserir link / QR Code ]</a:t>
            </a:r>
            <a:endParaRPr/>
          </a:p>
        </p:txBody>
      </p:sp>
      <p:sp>
        <p:nvSpPr>
          <p:cNvPr id="727" name="Google Shape;727;p12"/>
          <p:cNvSpPr/>
          <p:nvPr/>
        </p:nvSpPr>
        <p:spPr>
          <a:xfrm>
            <a:off x="7726679" y="251460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ECF3F8"/>
          </a:solidFill>
          <a:ln w="9525" cap="flat" cmpd="sng">
            <a:solidFill>
              <a:srgbClr val="ECF3F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"/>
          <p:cNvSpPr txBox="1"/>
          <p:nvPr/>
        </p:nvSpPr>
        <p:spPr>
          <a:xfrm>
            <a:off x="7726679" y="34290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b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729" name="Google Shape;729;p12"/>
          <p:cNvSpPr txBox="1"/>
          <p:nvPr/>
        </p:nvSpPr>
        <p:spPr>
          <a:xfrm>
            <a:off x="685800" y="5806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Obrigado.</a:t>
            </a:r>
            <a:endParaRPr/>
          </a:p>
        </p:txBody>
      </p:sp>
      <p:sp>
        <p:nvSpPr>
          <p:cNvPr id="730" name="Google Shape;730;p12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731" name="Google Shape;731;p12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841</Words>
  <Application>Microsoft Office PowerPoint</Application>
  <PresentationFormat>Widescreen</PresentationFormat>
  <Paragraphs>188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Bernardino</dc:creator>
  <cp:lastModifiedBy>Richard Bernardino</cp:lastModifiedBy>
  <cp:revision>2</cp:revision>
  <dcterms:created xsi:type="dcterms:W3CDTF">2013-01-27T09:14:16Z</dcterms:created>
  <dcterms:modified xsi:type="dcterms:W3CDTF">2026-09-18T03:36:05Z</dcterms:modified>
</cp:coreProperties>
</file>